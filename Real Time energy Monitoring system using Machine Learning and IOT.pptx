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5" r:id="rId1"/>
  </p:sldMasterIdLst>
  <p:sldIdLst>
    <p:sldId id="256" r:id="rId2"/>
    <p:sldId id="257" r:id="rId3"/>
    <p:sldId id="258" r:id="rId4"/>
    <p:sldId id="259" r:id="rId5"/>
    <p:sldId id="275" r:id="rId6"/>
    <p:sldId id="276" r:id="rId7"/>
    <p:sldId id="277" r:id="rId8"/>
    <p:sldId id="278" r:id="rId9"/>
    <p:sldId id="279" r:id="rId10"/>
    <p:sldId id="280" r:id="rId11"/>
    <p:sldId id="281" r:id="rId12"/>
    <p:sldId id="282" r:id="rId13"/>
    <p:sldId id="286" r:id="rId14"/>
    <p:sldId id="283" r:id="rId15"/>
    <p:sldId id="284" r:id="rId16"/>
    <p:sldId id="285" r:id="rId17"/>
    <p:sldId id="287" r:id="rId18"/>
    <p:sldId id="272" r:id="rId19"/>
    <p:sldId id="27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5256" autoAdjust="0"/>
  </p:normalViewPr>
  <p:slideViewPr>
    <p:cSldViewPr snapToGrid="0">
      <p:cViewPr varScale="1">
        <p:scale>
          <a:sx n="82" d="100"/>
          <a:sy n="82" d="100"/>
        </p:scale>
        <p:origin x="71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49625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6784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5/5/2021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75826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0048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5/5/2021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78966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73357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5/5/2021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71129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40591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14129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89202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25681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623463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5/5/2021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742816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5/5/2021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6653235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5/5/2021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717261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915795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57478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5/5/2021</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65792291"/>
      </p:ext>
    </p:extLst>
  </p:cSld>
  <p:clrMap bg1="dk1" tx1="lt1" bg2="dk2" tx2="lt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 id="2147483752"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42403-BFC6-4AC7-86DF-8C6953D2B73C}"/>
              </a:ext>
            </a:extLst>
          </p:cNvPr>
          <p:cNvSpPr>
            <a:spLocks noGrp="1"/>
          </p:cNvSpPr>
          <p:nvPr>
            <p:ph type="ctrTitle"/>
          </p:nvPr>
        </p:nvSpPr>
        <p:spPr>
          <a:xfrm>
            <a:off x="5708342" y="381740"/>
            <a:ext cx="4959657" cy="2396385"/>
          </a:xfrm>
        </p:spPr>
        <p:txBody>
          <a:bodyPr>
            <a:normAutofit/>
          </a:bodyPr>
          <a:lstStyle/>
          <a:p>
            <a:r>
              <a:rPr lang="en-IN" sz="3600" b="1" dirty="0">
                <a:solidFill>
                  <a:schemeClr val="tx2"/>
                </a:solidFill>
                <a:latin typeface="Century Gothic" pitchFamily="18"/>
              </a:rPr>
              <a:t>DR S. &amp; S.S GHANDHY GOVERMENT ENGINEERING COLLEGE , SURAT</a:t>
            </a:r>
            <a:endParaRPr lang="en-IN" sz="3600" b="1" dirty="0">
              <a:solidFill>
                <a:schemeClr val="tx2"/>
              </a:solidFill>
            </a:endParaRPr>
          </a:p>
        </p:txBody>
      </p:sp>
      <p:sp>
        <p:nvSpPr>
          <p:cNvPr id="3" name="Subtitle 2">
            <a:extLst>
              <a:ext uri="{FF2B5EF4-FFF2-40B4-BE49-F238E27FC236}">
                <a16:creationId xmlns:a16="http://schemas.microsoft.com/office/drawing/2014/main" id="{D6CB2102-7B25-4482-87A3-62201207DF12}"/>
              </a:ext>
            </a:extLst>
          </p:cNvPr>
          <p:cNvSpPr>
            <a:spLocks noGrp="1"/>
          </p:cNvSpPr>
          <p:nvPr>
            <p:ph type="subTitle" idx="1"/>
          </p:nvPr>
        </p:nvSpPr>
        <p:spPr>
          <a:xfrm>
            <a:off x="1876424" y="2931442"/>
            <a:ext cx="8791575" cy="3788954"/>
          </a:xfrm>
        </p:spPr>
        <p:txBody>
          <a:bodyPr>
            <a:normAutofit/>
          </a:bodyPr>
          <a:lstStyle/>
          <a:p>
            <a:pPr lvl="0" indent="-216000" algn="l" hangingPunct="1">
              <a:spcAft>
                <a:spcPts val="0"/>
              </a:spcAft>
            </a:pPr>
            <a:r>
              <a:rPr lang="en-IN" sz="2000" b="1" i="1" dirty="0">
                <a:latin typeface="Century Gothic" pitchFamily="18"/>
              </a:rPr>
              <a:t>PROJECT TITLE :- REAL TIME ENERGY MANAGEMENT SYSTEM USING PYTHON AND IOT</a:t>
            </a:r>
          </a:p>
          <a:p>
            <a:pPr lvl="0" indent="-216000" algn="l" hangingPunct="1">
              <a:spcAft>
                <a:spcPts val="0"/>
              </a:spcAft>
            </a:pPr>
            <a:r>
              <a:rPr lang="en-IN" sz="2000" b="1" u="sng" dirty="0">
                <a:latin typeface="Century Gothic" pitchFamily="18"/>
              </a:rPr>
              <a:t>INTERNAL GUIDE :- J.R.RANA</a:t>
            </a:r>
          </a:p>
          <a:p>
            <a:pPr lvl="0" indent="-216000" algn="l" hangingPunct="1">
              <a:spcAft>
                <a:spcPts val="0"/>
              </a:spcAft>
            </a:pPr>
            <a:endParaRPr lang="en-IN" sz="2000" b="1" u="sng" dirty="0">
              <a:latin typeface="Century Gothic" pitchFamily="18"/>
            </a:endParaRPr>
          </a:p>
          <a:p>
            <a:endParaRPr lang="en-IN" dirty="0"/>
          </a:p>
        </p:txBody>
      </p:sp>
      <p:pic>
        <p:nvPicPr>
          <p:cNvPr id="5" name="Picture 4">
            <a:extLst>
              <a:ext uri="{FF2B5EF4-FFF2-40B4-BE49-F238E27FC236}">
                <a16:creationId xmlns:a16="http://schemas.microsoft.com/office/drawing/2014/main" id="{C1D85716-9FF9-4251-95D7-7F7A83DFFF69}"/>
              </a:ext>
            </a:extLst>
          </p:cNvPr>
          <p:cNvPicPr>
            <a:picLocks noChangeAspect="1"/>
          </p:cNvPicPr>
          <p:nvPr/>
        </p:nvPicPr>
        <p:blipFill>
          <a:blip r:embed="rId2"/>
          <a:stretch>
            <a:fillRect/>
          </a:stretch>
        </p:blipFill>
        <p:spPr>
          <a:xfrm>
            <a:off x="2378301" y="531666"/>
            <a:ext cx="3086041" cy="2326358"/>
          </a:xfrm>
          <a:prstGeom prst="rect">
            <a:avLst/>
          </a:prstGeom>
        </p:spPr>
      </p:pic>
      <p:graphicFrame>
        <p:nvGraphicFramePr>
          <p:cNvPr id="4" name="Table 5">
            <a:extLst>
              <a:ext uri="{FF2B5EF4-FFF2-40B4-BE49-F238E27FC236}">
                <a16:creationId xmlns:a16="http://schemas.microsoft.com/office/drawing/2014/main" id="{54561254-7785-4124-8B25-1E9A1CF0946E}"/>
              </a:ext>
            </a:extLst>
          </p:cNvPr>
          <p:cNvGraphicFramePr>
            <a:graphicFrameLocks noGrp="1"/>
          </p:cNvGraphicFramePr>
          <p:nvPr>
            <p:extLst>
              <p:ext uri="{D42A27DB-BD31-4B8C-83A1-F6EECF244321}">
                <p14:modId xmlns:p14="http://schemas.microsoft.com/office/powerpoint/2010/main" val="2870867216"/>
              </p:ext>
            </p:extLst>
          </p:nvPr>
        </p:nvGraphicFramePr>
        <p:xfrm>
          <a:off x="1704513" y="4483222"/>
          <a:ext cx="8455488" cy="2237172"/>
        </p:xfrm>
        <a:graphic>
          <a:graphicData uri="http://schemas.openxmlformats.org/drawingml/2006/table">
            <a:tbl>
              <a:tblPr firstRow="1" bandRow="1">
                <a:tableStyleId>{F5AB1C69-6EDB-4FF4-983F-18BD219EF322}</a:tableStyleId>
              </a:tblPr>
              <a:tblGrid>
                <a:gridCol w="4227744">
                  <a:extLst>
                    <a:ext uri="{9D8B030D-6E8A-4147-A177-3AD203B41FA5}">
                      <a16:colId xmlns:a16="http://schemas.microsoft.com/office/drawing/2014/main" val="2722287508"/>
                    </a:ext>
                  </a:extLst>
                </a:gridCol>
                <a:gridCol w="4227744">
                  <a:extLst>
                    <a:ext uri="{9D8B030D-6E8A-4147-A177-3AD203B41FA5}">
                      <a16:colId xmlns:a16="http://schemas.microsoft.com/office/drawing/2014/main" val="3908373658"/>
                    </a:ext>
                  </a:extLst>
                </a:gridCol>
              </a:tblGrid>
              <a:tr h="372862">
                <a:tc>
                  <a:txBody>
                    <a:bodyPr/>
                    <a:lstStyle/>
                    <a:p>
                      <a:r>
                        <a:rPr lang="en-US" dirty="0"/>
                        <a:t>NAME</a:t>
                      </a:r>
                      <a:endParaRPr lang="en-IN" dirty="0"/>
                    </a:p>
                  </a:txBody>
                  <a:tcPr/>
                </a:tc>
                <a:tc>
                  <a:txBody>
                    <a:bodyPr/>
                    <a:lstStyle/>
                    <a:p>
                      <a:r>
                        <a:rPr lang="en-US" dirty="0"/>
                        <a:t>ENROLLMENT NO.</a:t>
                      </a:r>
                      <a:endParaRPr lang="en-IN" dirty="0"/>
                    </a:p>
                  </a:txBody>
                  <a:tcPr/>
                </a:tc>
                <a:extLst>
                  <a:ext uri="{0D108BD9-81ED-4DB2-BD59-A6C34878D82A}">
                    <a16:rowId xmlns:a16="http://schemas.microsoft.com/office/drawing/2014/main" val="3883665353"/>
                  </a:ext>
                </a:extLst>
              </a:tr>
              <a:tr h="372862">
                <a:tc>
                  <a:txBody>
                    <a:bodyPr/>
                    <a:lstStyle/>
                    <a:p>
                      <a:r>
                        <a:rPr lang="en-US" sz="1800" b="1" kern="1200" dirty="0">
                          <a:solidFill>
                            <a:schemeClr val="dk1"/>
                          </a:solidFill>
                          <a:effectLst/>
                          <a:latin typeface="+mn-lt"/>
                          <a:ea typeface="+mn-ea"/>
                          <a:cs typeface="+mn-cs"/>
                        </a:rPr>
                        <a:t>VASAVALA ANKIT J.</a:t>
                      </a:r>
                      <a:endParaRPr lang="en-IN" dirty="0"/>
                    </a:p>
                  </a:txBody>
                  <a:tcPr/>
                </a:tc>
                <a:tc>
                  <a:txBody>
                    <a:bodyPr/>
                    <a:lstStyle/>
                    <a:p>
                      <a:r>
                        <a:rPr lang="en-US" b="1" dirty="0"/>
                        <a:t>170230111063</a:t>
                      </a:r>
                      <a:endParaRPr lang="en-IN" b="1" dirty="0"/>
                    </a:p>
                  </a:txBody>
                  <a:tcPr/>
                </a:tc>
                <a:extLst>
                  <a:ext uri="{0D108BD9-81ED-4DB2-BD59-A6C34878D82A}">
                    <a16:rowId xmlns:a16="http://schemas.microsoft.com/office/drawing/2014/main" val="2430620028"/>
                  </a:ext>
                </a:extLst>
              </a:tr>
              <a:tr h="372862">
                <a:tc>
                  <a:txBody>
                    <a:bodyPr/>
                    <a:lstStyle/>
                    <a:p>
                      <a:r>
                        <a:rPr lang="en-US" sz="1800" b="1" kern="1200" dirty="0">
                          <a:solidFill>
                            <a:schemeClr val="dk1"/>
                          </a:solidFill>
                          <a:effectLst/>
                          <a:latin typeface="+mn-lt"/>
                          <a:ea typeface="+mn-ea"/>
                          <a:cs typeface="+mn-cs"/>
                        </a:rPr>
                        <a:t>PANCHAL PARTH J.</a:t>
                      </a:r>
                      <a:endParaRPr lang="en-IN" dirty="0"/>
                    </a:p>
                  </a:txBody>
                  <a:tcPr/>
                </a:tc>
                <a:tc>
                  <a:txBody>
                    <a:bodyPr/>
                    <a:lstStyle/>
                    <a:p>
                      <a:r>
                        <a:rPr lang="en-US" b="1" dirty="0"/>
                        <a:t>170230111029</a:t>
                      </a:r>
                      <a:endParaRPr lang="en-IN" b="1" dirty="0"/>
                    </a:p>
                  </a:txBody>
                  <a:tcPr/>
                </a:tc>
                <a:extLst>
                  <a:ext uri="{0D108BD9-81ED-4DB2-BD59-A6C34878D82A}">
                    <a16:rowId xmlns:a16="http://schemas.microsoft.com/office/drawing/2014/main" val="2967057134"/>
                  </a:ext>
                </a:extLst>
              </a:tr>
              <a:tr h="372862">
                <a:tc>
                  <a:txBody>
                    <a:bodyPr/>
                    <a:lstStyle/>
                    <a:p>
                      <a:r>
                        <a:rPr lang="en-US" sz="1800" b="1" kern="1200" dirty="0">
                          <a:solidFill>
                            <a:schemeClr val="dk1"/>
                          </a:solidFill>
                          <a:effectLst/>
                          <a:latin typeface="+mn-lt"/>
                          <a:ea typeface="+mn-ea"/>
                          <a:cs typeface="+mn-cs"/>
                        </a:rPr>
                        <a:t>CHAUDHARI TEJASH Y.</a:t>
                      </a:r>
                      <a:endParaRPr lang="en-IN" dirty="0"/>
                    </a:p>
                  </a:txBody>
                  <a:tcPr/>
                </a:tc>
                <a:tc>
                  <a:txBody>
                    <a:bodyPr/>
                    <a:lstStyle/>
                    <a:p>
                      <a:r>
                        <a:rPr lang="en-US" b="1" dirty="0"/>
                        <a:t>170230111005</a:t>
                      </a:r>
                      <a:endParaRPr lang="en-IN" b="1" dirty="0"/>
                    </a:p>
                  </a:txBody>
                  <a:tcPr/>
                </a:tc>
                <a:extLst>
                  <a:ext uri="{0D108BD9-81ED-4DB2-BD59-A6C34878D82A}">
                    <a16:rowId xmlns:a16="http://schemas.microsoft.com/office/drawing/2014/main" val="3309431904"/>
                  </a:ext>
                </a:extLst>
              </a:tr>
              <a:tr h="372862">
                <a:tc>
                  <a:txBody>
                    <a:bodyPr/>
                    <a:lstStyle/>
                    <a:p>
                      <a:r>
                        <a:rPr lang="en-US" sz="1800" b="1" kern="1200" dirty="0">
                          <a:solidFill>
                            <a:schemeClr val="dk1"/>
                          </a:solidFill>
                          <a:effectLst/>
                          <a:latin typeface="+mn-lt"/>
                          <a:ea typeface="+mn-ea"/>
                          <a:cs typeface="+mn-cs"/>
                        </a:rPr>
                        <a:t>VAGHELA HARDIK B.</a:t>
                      </a:r>
                      <a:endParaRPr lang="en-IN" dirty="0"/>
                    </a:p>
                  </a:txBody>
                  <a:tcPr/>
                </a:tc>
                <a:tc>
                  <a:txBody>
                    <a:bodyPr/>
                    <a:lstStyle/>
                    <a:p>
                      <a:r>
                        <a:rPr lang="en-US" b="1" dirty="0"/>
                        <a:t>170230111062</a:t>
                      </a:r>
                      <a:endParaRPr lang="en-IN" b="1" dirty="0"/>
                    </a:p>
                  </a:txBody>
                  <a:tcPr/>
                </a:tc>
                <a:extLst>
                  <a:ext uri="{0D108BD9-81ED-4DB2-BD59-A6C34878D82A}">
                    <a16:rowId xmlns:a16="http://schemas.microsoft.com/office/drawing/2014/main" val="4124328793"/>
                  </a:ext>
                </a:extLst>
              </a:tr>
              <a:tr h="372862">
                <a:tc>
                  <a:txBody>
                    <a:bodyPr/>
                    <a:lstStyle/>
                    <a:p>
                      <a:r>
                        <a:rPr lang="en-US" sz="1800" b="1" kern="1200" dirty="0">
                          <a:solidFill>
                            <a:schemeClr val="dk1"/>
                          </a:solidFill>
                          <a:effectLst/>
                          <a:latin typeface="+mn-lt"/>
                          <a:ea typeface="+mn-ea"/>
                          <a:cs typeface="+mn-cs"/>
                        </a:rPr>
                        <a:t>BHATT DEV A.</a:t>
                      </a:r>
                      <a:endParaRPr lang="en-IN" dirty="0"/>
                    </a:p>
                  </a:txBody>
                  <a:tcPr/>
                </a:tc>
                <a:tc>
                  <a:txBody>
                    <a:bodyPr/>
                    <a:lstStyle/>
                    <a:p>
                      <a:r>
                        <a:rPr lang="en-US" b="1" dirty="0"/>
                        <a:t>170230111002</a:t>
                      </a:r>
                      <a:endParaRPr lang="en-IN" b="1" dirty="0"/>
                    </a:p>
                  </a:txBody>
                  <a:tcPr/>
                </a:tc>
                <a:extLst>
                  <a:ext uri="{0D108BD9-81ED-4DB2-BD59-A6C34878D82A}">
                    <a16:rowId xmlns:a16="http://schemas.microsoft.com/office/drawing/2014/main" val="1478368339"/>
                  </a:ext>
                </a:extLst>
              </a:tr>
            </a:tbl>
          </a:graphicData>
        </a:graphic>
      </p:graphicFrame>
    </p:spTree>
    <p:extLst>
      <p:ext uri="{BB962C8B-B14F-4D97-AF65-F5344CB8AC3E}">
        <p14:creationId xmlns:p14="http://schemas.microsoft.com/office/powerpoint/2010/main" val="3611479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8616-F703-4979-A67D-5D9970FE1078}"/>
              </a:ext>
            </a:extLst>
          </p:cNvPr>
          <p:cNvSpPr>
            <a:spLocks noGrp="1"/>
          </p:cNvSpPr>
          <p:nvPr>
            <p:ph type="title"/>
          </p:nvPr>
        </p:nvSpPr>
        <p:spPr/>
        <p:txBody>
          <a:bodyPr/>
          <a:lstStyle/>
          <a:p>
            <a:r>
              <a:rPr lang="en-IN" sz="3600" b="1" i="1" u="sng" dirty="0">
                <a:solidFill>
                  <a:schemeClr val="tx2"/>
                </a:solidFill>
                <a:latin typeface="Century Gothic" pitchFamily="18"/>
              </a:rPr>
              <a:t>CONTENTS OF THIS PRESENTATION</a:t>
            </a:r>
            <a:endParaRPr lang="en-IN" dirty="0">
              <a:solidFill>
                <a:schemeClr val="tx2"/>
              </a:solidFill>
            </a:endParaRPr>
          </a:p>
        </p:txBody>
      </p:sp>
      <p:sp>
        <p:nvSpPr>
          <p:cNvPr id="3" name="Content Placeholder 2">
            <a:extLst>
              <a:ext uri="{FF2B5EF4-FFF2-40B4-BE49-F238E27FC236}">
                <a16:creationId xmlns:a16="http://schemas.microsoft.com/office/drawing/2014/main" id="{22040027-A03D-44D1-88B2-CDC6EEA4DB88}"/>
              </a:ext>
            </a:extLst>
          </p:cNvPr>
          <p:cNvSpPr>
            <a:spLocks noGrp="1"/>
          </p:cNvSpPr>
          <p:nvPr>
            <p:ph idx="1"/>
          </p:nvPr>
        </p:nvSpPr>
        <p:spPr/>
        <p:txBody>
          <a:bodyPr/>
          <a:lstStyle/>
          <a:p>
            <a:pPr marL="457200" indent="-457200">
              <a:spcBef>
                <a:spcPts val="1001"/>
              </a:spcBef>
              <a:buClr>
                <a:srgbClr val="A53010"/>
              </a:buClr>
              <a:buSzPct val="100000"/>
              <a:buFont typeface="+mj-lt"/>
              <a:buAutoNum type="arabicPeriod"/>
            </a:pPr>
            <a:r>
              <a:rPr lang="en-IN" sz="2400" b="1" dirty="0">
                <a:solidFill>
                  <a:schemeClr val="tx2"/>
                </a:solidFill>
                <a:latin typeface="Arial Black" pitchFamily="34"/>
              </a:rPr>
              <a:t>WHAT ARE WE MAKING?</a:t>
            </a:r>
          </a:p>
          <a:p>
            <a:pPr marL="457200" indent="-457200">
              <a:spcBef>
                <a:spcPts val="1001"/>
              </a:spcBef>
              <a:buClr>
                <a:srgbClr val="A53010"/>
              </a:buClr>
              <a:buSzPct val="100000"/>
              <a:buFont typeface="+mj-lt"/>
              <a:buAutoNum type="arabicPeriod"/>
            </a:pPr>
            <a:r>
              <a:rPr lang="en-IN" sz="2400" b="1" dirty="0">
                <a:solidFill>
                  <a:schemeClr val="tx2"/>
                </a:solidFill>
                <a:latin typeface="Arial Black" pitchFamily="34"/>
              </a:rPr>
              <a:t>WHAT ARE WE USING TO MAKE IT?</a:t>
            </a:r>
          </a:p>
          <a:p>
            <a:pPr marL="457200" indent="-457200">
              <a:spcBef>
                <a:spcPts val="1001"/>
              </a:spcBef>
              <a:buClr>
                <a:srgbClr val="A53010"/>
              </a:buClr>
              <a:buSzPct val="100000"/>
              <a:buFont typeface="+mj-lt"/>
              <a:buAutoNum type="arabicPeriod"/>
            </a:pPr>
            <a:r>
              <a:rPr lang="en-IN" sz="2400" b="1" dirty="0">
                <a:solidFill>
                  <a:schemeClr val="tx2"/>
                </a:solidFill>
                <a:latin typeface="Arial Black" pitchFamily="34"/>
              </a:rPr>
              <a:t>HOW IS IT GOING TO LOOK?</a:t>
            </a:r>
          </a:p>
          <a:p>
            <a:pPr marL="457200" lvl="0" indent="-457200" algn="l" hangingPunct="1">
              <a:spcBef>
                <a:spcPts val="1001"/>
              </a:spcBef>
              <a:spcAft>
                <a:spcPts val="0"/>
              </a:spcAft>
              <a:buFont typeface="+mj-lt"/>
              <a:buAutoNum type="arabicPeriod"/>
            </a:pPr>
            <a:endParaRPr lang="en-IN" sz="2400" dirty="0">
              <a:solidFill>
                <a:schemeClr val="tx2"/>
              </a:solidFill>
              <a:latin typeface="Century Gothic" pitchFamily="18"/>
            </a:endParaRPr>
          </a:p>
          <a:p>
            <a:pPr marL="457200" indent="-457200">
              <a:buFont typeface="+mj-lt"/>
              <a:buAutoNum type="arabicPeriod"/>
            </a:pPr>
            <a:endParaRPr lang="en-IN" dirty="0">
              <a:solidFill>
                <a:schemeClr val="tx2"/>
              </a:solidFill>
            </a:endParaRPr>
          </a:p>
        </p:txBody>
      </p:sp>
    </p:spTree>
    <p:extLst>
      <p:ext uri="{BB962C8B-B14F-4D97-AF65-F5344CB8AC3E}">
        <p14:creationId xmlns:p14="http://schemas.microsoft.com/office/powerpoint/2010/main" val="3819497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98AAC-734C-4BFE-9418-4D1830731331}"/>
              </a:ext>
            </a:extLst>
          </p:cNvPr>
          <p:cNvSpPr>
            <a:spLocks noGrp="1"/>
          </p:cNvSpPr>
          <p:nvPr>
            <p:ph type="title"/>
          </p:nvPr>
        </p:nvSpPr>
        <p:spPr>
          <a:xfrm>
            <a:off x="1141413" y="275209"/>
            <a:ext cx="9905998" cy="1136342"/>
          </a:xfrm>
        </p:spPr>
        <p:txBody>
          <a:bodyPr/>
          <a:lstStyle/>
          <a:p>
            <a:r>
              <a:rPr lang="en-IN" sz="3600" b="1" i="1" dirty="0">
                <a:solidFill>
                  <a:schemeClr val="tx2"/>
                </a:solidFill>
                <a:latin typeface="Century Gothic" pitchFamily="18"/>
              </a:rPr>
              <a:t>WHAT ARE WE MAKING?</a:t>
            </a:r>
            <a:endParaRPr lang="en-IN" dirty="0">
              <a:solidFill>
                <a:schemeClr val="tx2"/>
              </a:solidFill>
            </a:endParaRPr>
          </a:p>
        </p:txBody>
      </p:sp>
      <p:sp>
        <p:nvSpPr>
          <p:cNvPr id="3" name="Content Placeholder 2">
            <a:extLst>
              <a:ext uri="{FF2B5EF4-FFF2-40B4-BE49-F238E27FC236}">
                <a16:creationId xmlns:a16="http://schemas.microsoft.com/office/drawing/2014/main" id="{67087920-820B-476F-B394-61F594375822}"/>
              </a:ext>
            </a:extLst>
          </p:cNvPr>
          <p:cNvSpPr>
            <a:spLocks noGrp="1"/>
          </p:cNvSpPr>
          <p:nvPr>
            <p:ph idx="1"/>
          </p:nvPr>
        </p:nvSpPr>
        <p:spPr>
          <a:xfrm>
            <a:off x="1141412" y="1189608"/>
            <a:ext cx="9905999" cy="5539665"/>
          </a:xfrm>
        </p:spPr>
        <p:txBody>
          <a:bodyPr>
            <a:normAutofit fontScale="92500" lnSpcReduction="20000"/>
          </a:bodyPr>
          <a:lstStyle/>
          <a:p>
            <a:pPr>
              <a:spcBef>
                <a:spcPts val="1001"/>
              </a:spcBef>
              <a:buClr>
                <a:srgbClr val="A53010"/>
              </a:buClr>
              <a:buSzPct val="45000"/>
            </a:pPr>
            <a:r>
              <a:rPr lang="en-IN" sz="2000" dirty="0">
                <a:solidFill>
                  <a:schemeClr val="tx2"/>
                </a:solidFill>
                <a:latin typeface="Calibri" pitchFamily="34"/>
              </a:rPr>
              <a:t>Inefficient energy use has been a major issue globally</a:t>
            </a:r>
            <a:r>
              <a:rPr lang="en-IN" dirty="0">
                <a:solidFill>
                  <a:schemeClr val="tx2"/>
                </a:solidFill>
                <a:latin typeface="Calibri" pitchFamily="34"/>
              </a:rPr>
              <a:t>.</a:t>
            </a:r>
          </a:p>
          <a:p>
            <a:pPr>
              <a:spcBef>
                <a:spcPts val="1001"/>
              </a:spcBef>
              <a:buClr>
                <a:srgbClr val="A53010"/>
              </a:buClr>
              <a:buSzPct val="45000"/>
            </a:pPr>
            <a:r>
              <a:rPr lang="en-IN" dirty="0">
                <a:solidFill>
                  <a:schemeClr val="tx2"/>
                </a:solidFill>
                <a:latin typeface="Calibri" pitchFamily="34"/>
              </a:rPr>
              <a:t>So we are making project that can manage the use of power by appliance.</a:t>
            </a:r>
          </a:p>
          <a:p>
            <a:pPr>
              <a:spcBef>
                <a:spcPts val="1001"/>
              </a:spcBef>
              <a:buClr>
                <a:srgbClr val="A53010"/>
              </a:buClr>
              <a:buSzPct val="45000"/>
            </a:pPr>
            <a:r>
              <a:rPr lang="en-IN" dirty="0">
                <a:solidFill>
                  <a:schemeClr val="tx2"/>
                </a:solidFill>
                <a:latin typeface="Calibri" pitchFamily="34"/>
              </a:rPr>
              <a:t>In our project we can collect the power consumption data from the appliance by using ACS712(Analog Current Sensor). It gives amount of current flowing through the appliance from which we are measuring power consumption. </a:t>
            </a:r>
          </a:p>
          <a:p>
            <a:pPr>
              <a:spcBef>
                <a:spcPts val="1001"/>
              </a:spcBef>
              <a:buClr>
                <a:srgbClr val="A53010"/>
              </a:buClr>
              <a:buSzPct val="45000"/>
            </a:pPr>
            <a:r>
              <a:rPr lang="en-IN" dirty="0">
                <a:solidFill>
                  <a:schemeClr val="tx2"/>
                </a:solidFill>
                <a:latin typeface="Calibri" pitchFamily="34"/>
              </a:rPr>
              <a:t>We are using ESP8266 Soc by Espressif as brain of our project. </a:t>
            </a:r>
          </a:p>
          <a:p>
            <a:pPr>
              <a:spcBef>
                <a:spcPts val="1001"/>
              </a:spcBef>
              <a:buClr>
                <a:srgbClr val="A53010"/>
              </a:buClr>
              <a:buSzPct val="45000"/>
            </a:pPr>
            <a:r>
              <a:rPr lang="en-IN" dirty="0">
                <a:solidFill>
                  <a:schemeClr val="tx2"/>
                </a:solidFill>
                <a:latin typeface="Calibri" pitchFamily="34"/>
              </a:rPr>
              <a:t>In ESP8266 Bluetooth and WiFi peripheral is embedded so we are getting it connected to a database server on the PAN in which power consumption data is stored of each electrical load.</a:t>
            </a:r>
          </a:p>
          <a:p>
            <a:pPr>
              <a:spcBef>
                <a:spcPts val="1001"/>
              </a:spcBef>
              <a:buClr>
                <a:srgbClr val="A53010"/>
              </a:buClr>
              <a:buSzPct val="45000"/>
            </a:pPr>
            <a:r>
              <a:rPr lang="en-IN" dirty="0">
                <a:solidFill>
                  <a:schemeClr val="tx2"/>
                </a:solidFill>
                <a:latin typeface="Calibri" pitchFamily="34"/>
              </a:rPr>
              <a:t>By using tech stack of HTTP NodeJS SERVER we are making  a dashboard on which all the real time data can be seen.</a:t>
            </a:r>
          </a:p>
          <a:p>
            <a:pPr>
              <a:spcBef>
                <a:spcPts val="1001"/>
              </a:spcBef>
              <a:buClr>
                <a:srgbClr val="A53010"/>
              </a:buClr>
              <a:buSzPct val="45000"/>
            </a:pPr>
            <a:r>
              <a:rPr lang="en-IN" dirty="0">
                <a:solidFill>
                  <a:schemeClr val="tx2"/>
                </a:solidFill>
                <a:latin typeface="Calibri" pitchFamily="34"/>
              </a:rPr>
              <a:t>We can see this all data in form of various graph which was possible because of matplotlib.</a:t>
            </a:r>
          </a:p>
          <a:p>
            <a:pPr>
              <a:spcBef>
                <a:spcPts val="1001"/>
              </a:spcBef>
              <a:buClr>
                <a:srgbClr val="A53010"/>
              </a:buClr>
              <a:buSzPct val="45000"/>
            </a:pPr>
            <a:r>
              <a:rPr lang="en-IN" dirty="0">
                <a:solidFill>
                  <a:schemeClr val="tx2"/>
                </a:solidFill>
                <a:latin typeface="Calibri" pitchFamily="34"/>
              </a:rPr>
              <a:t>It makes easy to understand  the real time power consumption and this is visualized in the dashboard in a Power versus time graph.</a:t>
            </a:r>
          </a:p>
          <a:p>
            <a:pPr>
              <a:spcBef>
                <a:spcPts val="1001"/>
              </a:spcBef>
              <a:buClr>
                <a:srgbClr val="A53010"/>
              </a:buClr>
              <a:buSzPct val="45000"/>
            </a:pPr>
            <a:r>
              <a:rPr lang="en-IN" dirty="0">
                <a:solidFill>
                  <a:schemeClr val="tx2"/>
                </a:solidFill>
                <a:latin typeface="Calibri" pitchFamily="34"/>
              </a:rPr>
              <a:t>Form the power consumption data we will be able to estimate the electricity bill of the user also the data set will be helpful for Data Scientist for  research and analysis.</a:t>
            </a:r>
          </a:p>
          <a:p>
            <a:pPr marL="0" indent="0">
              <a:spcBef>
                <a:spcPts val="1001"/>
              </a:spcBef>
              <a:buClr>
                <a:srgbClr val="A53010"/>
              </a:buClr>
              <a:buSzPct val="45000"/>
              <a:buNone/>
            </a:pPr>
            <a:endParaRPr lang="en-IN" sz="2000" dirty="0">
              <a:solidFill>
                <a:schemeClr val="tx2"/>
              </a:solidFill>
              <a:latin typeface="Calibri" pitchFamily="34"/>
            </a:endParaRPr>
          </a:p>
        </p:txBody>
      </p:sp>
    </p:spTree>
    <p:extLst>
      <p:ext uri="{BB962C8B-B14F-4D97-AF65-F5344CB8AC3E}">
        <p14:creationId xmlns:p14="http://schemas.microsoft.com/office/powerpoint/2010/main" val="1809830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FD143-BB99-4EB6-A366-4EE09EF8CC19}"/>
              </a:ext>
            </a:extLst>
          </p:cNvPr>
          <p:cNvSpPr>
            <a:spLocks noGrp="1"/>
          </p:cNvSpPr>
          <p:nvPr>
            <p:ph type="title"/>
          </p:nvPr>
        </p:nvSpPr>
        <p:spPr/>
        <p:txBody>
          <a:bodyPr/>
          <a:lstStyle/>
          <a:p>
            <a:r>
              <a:rPr lang="en-IN" sz="3200" b="1" i="1" dirty="0">
                <a:solidFill>
                  <a:schemeClr val="tx2"/>
                </a:solidFill>
                <a:latin typeface="Century Gothic" pitchFamily="18"/>
              </a:rPr>
              <a:t>WHAT ARE WE USING TO MAKE IT?</a:t>
            </a:r>
            <a:endParaRPr lang="en-IN" dirty="0">
              <a:solidFill>
                <a:schemeClr val="tx2"/>
              </a:solidFill>
            </a:endParaRPr>
          </a:p>
        </p:txBody>
      </p:sp>
      <p:sp>
        <p:nvSpPr>
          <p:cNvPr id="3" name="Content Placeholder 2">
            <a:extLst>
              <a:ext uri="{FF2B5EF4-FFF2-40B4-BE49-F238E27FC236}">
                <a16:creationId xmlns:a16="http://schemas.microsoft.com/office/drawing/2014/main" id="{40A233CC-C80C-48BB-BF73-E52F88CC1642}"/>
              </a:ext>
            </a:extLst>
          </p:cNvPr>
          <p:cNvSpPr>
            <a:spLocks noGrp="1"/>
          </p:cNvSpPr>
          <p:nvPr>
            <p:ph idx="1"/>
          </p:nvPr>
        </p:nvSpPr>
        <p:spPr/>
        <p:txBody>
          <a:bodyPr>
            <a:normAutofit/>
          </a:bodyPr>
          <a:lstStyle/>
          <a:p>
            <a:pPr marL="0" lvl="0" indent="0" algn="l" hangingPunct="1">
              <a:spcBef>
                <a:spcPts val="1001"/>
              </a:spcBef>
              <a:spcAft>
                <a:spcPts val="0"/>
              </a:spcAft>
              <a:buSzPct val="100000"/>
              <a:buNone/>
            </a:pPr>
            <a:endParaRPr lang="en-IN" sz="2000" b="1" dirty="0">
              <a:solidFill>
                <a:schemeClr val="tx2"/>
              </a:solidFill>
              <a:latin typeface="Arial Black" pitchFamily="34"/>
            </a:endParaRPr>
          </a:p>
          <a:p>
            <a:pPr marL="457200" lvl="0" indent="-457200" algn="l" hangingPunct="1">
              <a:spcBef>
                <a:spcPts val="1001"/>
              </a:spcBef>
              <a:spcAft>
                <a:spcPts val="0"/>
              </a:spcAft>
              <a:buSzPct val="100000"/>
              <a:buFont typeface="+mj-lt"/>
              <a:buAutoNum type="arabicPeriod"/>
            </a:pPr>
            <a:r>
              <a:rPr lang="en-IN" sz="1600" b="1" dirty="0">
                <a:solidFill>
                  <a:schemeClr val="tx2"/>
                </a:solidFill>
                <a:latin typeface="Arial Black" panose="020B0A04020102020204" pitchFamily="34" charset="0"/>
              </a:rPr>
              <a:t>Python</a:t>
            </a:r>
          </a:p>
          <a:p>
            <a:pPr marL="457200" lvl="0" indent="-457200" algn="l" hangingPunct="1">
              <a:spcBef>
                <a:spcPts val="1001"/>
              </a:spcBef>
              <a:spcAft>
                <a:spcPts val="0"/>
              </a:spcAft>
              <a:buSzPct val="100000"/>
              <a:buFont typeface="+mj-lt"/>
              <a:buAutoNum type="arabicPeriod"/>
            </a:pPr>
            <a:r>
              <a:rPr lang="en-IN" sz="1600" b="1" dirty="0">
                <a:solidFill>
                  <a:schemeClr val="tx2"/>
                </a:solidFill>
                <a:latin typeface="Arial Black" panose="020B0A04020102020204" pitchFamily="34" charset="0"/>
              </a:rPr>
              <a:t>ESP8266 (Node MCU)</a:t>
            </a:r>
          </a:p>
          <a:p>
            <a:pPr marL="457200" lvl="0" indent="-457200" algn="l" hangingPunct="1">
              <a:spcBef>
                <a:spcPts val="1001"/>
              </a:spcBef>
              <a:spcAft>
                <a:spcPts val="0"/>
              </a:spcAft>
              <a:buSzPct val="100000"/>
              <a:buFont typeface="+mj-lt"/>
              <a:buAutoNum type="arabicPeriod"/>
            </a:pPr>
            <a:r>
              <a:rPr lang="en-IN" sz="1600" b="1" dirty="0">
                <a:solidFill>
                  <a:schemeClr val="tx2"/>
                </a:solidFill>
                <a:latin typeface="Arial Black" panose="020B0A04020102020204" pitchFamily="34" charset="0"/>
              </a:rPr>
              <a:t>Internet of Things</a:t>
            </a:r>
          </a:p>
          <a:p>
            <a:pPr marL="457200" indent="-457200">
              <a:spcBef>
                <a:spcPts val="1001"/>
              </a:spcBef>
              <a:buSzPct val="100000"/>
              <a:buFont typeface="+mj-lt"/>
              <a:buAutoNum type="arabicPeriod"/>
            </a:pPr>
            <a:r>
              <a:rPr lang="en-US" sz="1600" b="1" dirty="0" err="1">
                <a:solidFill>
                  <a:schemeClr val="tx2"/>
                </a:solidFill>
                <a:effectLst/>
                <a:latin typeface="Arial Black" panose="020B0A04020102020204" pitchFamily="34" charset="0"/>
                <a:ea typeface="SimSun" panose="02010600030101010101" pitchFamily="2" charset="-122"/>
                <a:cs typeface="SimSun" panose="02010600030101010101" pitchFamily="2" charset="-122"/>
              </a:rPr>
              <a:t>Aruduino</a:t>
            </a:r>
            <a:r>
              <a:rPr lang="en-US" sz="1600" b="1" dirty="0">
                <a:solidFill>
                  <a:schemeClr val="tx2"/>
                </a:solidFill>
                <a:effectLst/>
                <a:latin typeface="Arial Black" panose="020B0A04020102020204" pitchFamily="34" charset="0"/>
                <a:ea typeface="SimSun" panose="02010600030101010101" pitchFamily="2" charset="-122"/>
                <a:cs typeface="SimSun" panose="02010600030101010101" pitchFamily="2" charset="-122"/>
              </a:rPr>
              <a:t> IDE</a:t>
            </a:r>
          </a:p>
          <a:p>
            <a:pPr marL="457200" indent="-457200">
              <a:spcBef>
                <a:spcPts val="1001"/>
              </a:spcBef>
              <a:buSzPct val="100000"/>
              <a:buFont typeface="+mj-lt"/>
              <a:buAutoNum type="arabicPeriod"/>
            </a:pPr>
            <a:r>
              <a:rPr lang="en-US" sz="1600" b="1" dirty="0">
                <a:solidFill>
                  <a:schemeClr val="tx2"/>
                </a:solidFill>
                <a:effectLst/>
                <a:latin typeface="Arial Black" panose="020B0A04020102020204" pitchFamily="34" charset="0"/>
                <a:ea typeface="SimSun" panose="02010600030101010101" pitchFamily="2" charset="-122"/>
                <a:cs typeface="SimSun" panose="02010600030101010101" pitchFamily="2" charset="-122"/>
              </a:rPr>
              <a:t>ACS712 (Analog Current Sensor)</a:t>
            </a:r>
          </a:p>
          <a:p>
            <a:pPr marL="457200" indent="-457200">
              <a:spcBef>
                <a:spcPts val="1001"/>
              </a:spcBef>
              <a:buSzPct val="100000"/>
              <a:buFont typeface="+mj-lt"/>
              <a:buAutoNum type="arabicPeriod"/>
            </a:pPr>
            <a:r>
              <a:rPr lang="en-US" sz="1600" b="1" dirty="0">
                <a:solidFill>
                  <a:schemeClr val="tx2"/>
                </a:solidFill>
                <a:effectLst/>
                <a:latin typeface="Arial Black" panose="020B0A04020102020204" pitchFamily="34" charset="0"/>
                <a:ea typeface="SimSun" panose="02010600030101010101" pitchFamily="2" charset="-122"/>
                <a:cs typeface="SimSun" panose="02010600030101010101" pitchFamily="2" charset="-122"/>
              </a:rPr>
              <a:t>AC to DC converter</a:t>
            </a:r>
            <a:endParaRPr lang="en-IN" sz="1600" b="1" dirty="0">
              <a:solidFill>
                <a:schemeClr val="tx2"/>
              </a:solidFill>
              <a:effectLst/>
              <a:latin typeface="Arial Black" panose="020B0A04020102020204" pitchFamily="34" charset="0"/>
              <a:ea typeface="SimSun" panose="02010600030101010101" pitchFamily="2" charset="-122"/>
              <a:cs typeface="SimSun" panose="02010600030101010101" pitchFamily="2" charset="-122"/>
            </a:endParaRPr>
          </a:p>
          <a:p>
            <a:pPr marL="457200" indent="-457200">
              <a:spcBef>
                <a:spcPts val="1001"/>
              </a:spcBef>
              <a:buSzPct val="100000"/>
              <a:buFont typeface="+mj-lt"/>
              <a:buAutoNum type="arabicPeriod"/>
            </a:pPr>
            <a:endParaRPr lang="en-IN" sz="1600" b="1" dirty="0">
              <a:solidFill>
                <a:schemeClr val="tx2"/>
              </a:solidFill>
              <a:effectLst/>
              <a:latin typeface="Calibri" panose="020F0502020204030204" pitchFamily="34" charset="0"/>
              <a:ea typeface="SimSun" panose="02010600030101010101" pitchFamily="2" charset="-122"/>
              <a:cs typeface="SimSun" panose="02010600030101010101" pitchFamily="2" charset="-122"/>
            </a:endParaRPr>
          </a:p>
          <a:p>
            <a:pPr marL="457200" indent="-457200">
              <a:spcBef>
                <a:spcPts val="1001"/>
              </a:spcBef>
              <a:buSzPct val="100000"/>
              <a:buFont typeface="+mj-lt"/>
              <a:buAutoNum type="arabicPeriod"/>
            </a:pPr>
            <a:endParaRPr lang="en-US" sz="1600" dirty="0">
              <a:solidFill>
                <a:schemeClr val="tx2"/>
              </a:solidFill>
              <a:effectLst/>
              <a:latin typeface="Calibri" panose="020F0502020204030204" pitchFamily="34" charset="0"/>
              <a:ea typeface="SimSun" panose="02010600030101010101" pitchFamily="2" charset="-122"/>
              <a:cs typeface="SimSun" panose="02010600030101010101" pitchFamily="2" charset="-122"/>
            </a:endParaRPr>
          </a:p>
          <a:p>
            <a:pPr marL="457200" indent="-457200">
              <a:spcBef>
                <a:spcPts val="1001"/>
              </a:spcBef>
              <a:buSzPct val="100000"/>
              <a:buFont typeface="+mj-lt"/>
              <a:buAutoNum type="arabicPeriod"/>
            </a:pPr>
            <a:endParaRPr lang="en-IN" sz="2000" dirty="0">
              <a:solidFill>
                <a:schemeClr val="tx2"/>
              </a:solidFill>
              <a:effectLst/>
              <a:latin typeface="Calibri" panose="020F0502020204030204" pitchFamily="34" charset="0"/>
              <a:ea typeface="SimSun" panose="02010600030101010101" pitchFamily="2" charset="-122"/>
              <a:cs typeface="SimSun" panose="02010600030101010101" pitchFamily="2" charset="-122"/>
            </a:endParaRPr>
          </a:p>
          <a:p>
            <a:pPr marL="457200" indent="-457200">
              <a:spcBef>
                <a:spcPts val="1001"/>
              </a:spcBef>
              <a:buSzPct val="100000"/>
              <a:buFont typeface="+mj-lt"/>
              <a:buAutoNum type="arabicPeriod"/>
            </a:pPr>
            <a:endParaRPr lang="en-IN" sz="2000" dirty="0">
              <a:solidFill>
                <a:schemeClr val="tx2"/>
              </a:solidFill>
              <a:effectLst/>
              <a:latin typeface="Calibri" panose="020F0502020204030204" pitchFamily="34" charset="0"/>
              <a:ea typeface="SimSun" panose="02010600030101010101" pitchFamily="2" charset="-122"/>
              <a:cs typeface="SimSun" panose="02010600030101010101" pitchFamily="2" charset="-122"/>
            </a:endParaRPr>
          </a:p>
          <a:p>
            <a:pPr marL="457200" lvl="0" indent="-457200" algn="l" hangingPunct="1">
              <a:spcBef>
                <a:spcPts val="1001"/>
              </a:spcBef>
              <a:spcAft>
                <a:spcPts val="0"/>
              </a:spcAft>
              <a:buSzPct val="100000"/>
              <a:buFont typeface="+mj-lt"/>
              <a:buAutoNum type="arabicPeriod"/>
            </a:pPr>
            <a:endParaRPr lang="en-IN" sz="2000" b="1" dirty="0">
              <a:solidFill>
                <a:schemeClr val="tx2"/>
              </a:solidFill>
              <a:latin typeface="Arial Black" pitchFamily="34"/>
            </a:endParaRPr>
          </a:p>
          <a:p>
            <a:pPr marL="457200" lvl="0" indent="-457200" algn="l" hangingPunct="1">
              <a:spcBef>
                <a:spcPts val="1001"/>
              </a:spcBef>
              <a:spcAft>
                <a:spcPts val="0"/>
              </a:spcAft>
              <a:buSzPct val="100000"/>
              <a:buFont typeface="+mj-lt"/>
              <a:buAutoNum type="arabicPeriod"/>
            </a:pPr>
            <a:endParaRPr lang="en-IN" b="1" dirty="0">
              <a:solidFill>
                <a:schemeClr val="tx2"/>
              </a:solidFill>
              <a:effectLst/>
              <a:latin typeface="Arial" panose="020B0604020202020204" pitchFamily="34" charset="0"/>
              <a:ea typeface="SimSun" panose="02010600030101010101" pitchFamily="2" charset="-122"/>
              <a:cs typeface="Arial" panose="020B0604020202020204" pitchFamily="34" charset="0"/>
            </a:endParaRPr>
          </a:p>
          <a:p>
            <a:pPr marL="0" lvl="0" indent="0" algn="l" hangingPunct="1">
              <a:spcBef>
                <a:spcPts val="1001"/>
              </a:spcBef>
              <a:spcAft>
                <a:spcPts val="0"/>
              </a:spcAft>
              <a:buSzPct val="100000"/>
              <a:buNone/>
            </a:pPr>
            <a:endParaRPr lang="en-IN" sz="2000" b="1" dirty="0">
              <a:solidFill>
                <a:schemeClr val="tx2"/>
              </a:solidFill>
              <a:latin typeface="Arial Black" pitchFamily="34"/>
            </a:endParaRPr>
          </a:p>
          <a:p>
            <a:pPr marL="457200" indent="-457200">
              <a:buFont typeface="+mj-lt"/>
              <a:buAutoNum type="arabicPeriod"/>
            </a:pPr>
            <a:endParaRPr lang="en-IN" dirty="0">
              <a:solidFill>
                <a:schemeClr val="tx2"/>
              </a:solidFill>
            </a:endParaRPr>
          </a:p>
        </p:txBody>
      </p:sp>
    </p:spTree>
    <p:extLst>
      <p:ext uri="{BB962C8B-B14F-4D97-AF65-F5344CB8AC3E}">
        <p14:creationId xmlns:p14="http://schemas.microsoft.com/office/powerpoint/2010/main" val="1508148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CCD83-F008-4573-A768-5BA3ACD39EB9}"/>
              </a:ext>
            </a:extLst>
          </p:cNvPr>
          <p:cNvSpPr>
            <a:spLocks noGrp="1"/>
          </p:cNvSpPr>
          <p:nvPr>
            <p:ph type="title"/>
          </p:nvPr>
        </p:nvSpPr>
        <p:spPr>
          <a:xfrm>
            <a:off x="913795" y="328475"/>
            <a:ext cx="10353761" cy="1083076"/>
          </a:xfrm>
        </p:spPr>
        <p:txBody>
          <a:bodyPr/>
          <a:lstStyle/>
          <a:p>
            <a:r>
              <a:rPr lang="en-IN" dirty="0"/>
              <a:t>Block diagram</a:t>
            </a:r>
          </a:p>
        </p:txBody>
      </p:sp>
      <p:pic>
        <p:nvPicPr>
          <p:cNvPr id="6" name="Content Placeholder 5">
            <a:extLst>
              <a:ext uri="{FF2B5EF4-FFF2-40B4-BE49-F238E27FC236}">
                <a16:creationId xmlns:a16="http://schemas.microsoft.com/office/drawing/2014/main" id="{A6FA179F-D992-48F5-A7CF-33E7F6D97144}"/>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913796" y="1411551"/>
            <a:ext cx="10609510" cy="4942596"/>
          </a:xfrm>
          <a:prstGeom prst="rect">
            <a:avLst/>
          </a:prstGeom>
        </p:spPr>
      </p:pic>
    </p:spTree>
    <p:extLst>
      <p:ext uri="{BB962C8B-B14F-4D97-AF65-F5344CB8AC3E}">
        <p14:creationId xmlns:p14="http://schemas.microsoft.com/office/powerpoint/2010/main" val="3456066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C1911-CD07-44BC-9F7A-84E3FF0A2B6A}"/>
              </a:ext>
            </a:extLst>
          </p:cNvPr>
          <p:cNvSpPr>
            <a:spLocks noGrp="1"/>
          </p:cNvSpPr>
          <p:nvPr>
            <p:ph type="title"/>
          </p:nvPr>
        </p:nvSpPr>
        <p:spPr>
          <a:xfrm>
            <a:off x="913795" y="609601"/>
            <a:ext cx="10353761" cy="961748"/>
          </a:xfrm>
        </p:spPr>
        <p:txBody>
          <a:bodyPr/>
          <a:lstStyle/>
          <a:p>
            <a:r>
              <a:rPr lang="en-IN" dirty="0"/>
              <a:t>Circuit diagram  CONTAINING ONE LOAD</a:t>
            </a:r>
          </a:p>
        </p:txBody>
      </p:sp>
      <p:pic>
        <p:nvPicPr>
          <p:cNvPr id="6" name="Content Placeholder 5">
            <a:extLst>
              <a:ext uri="{FF2B5EF4-FFF2-40B4-BE49-F238E27FC236}">
                <a16:creationId xmlns:a16="http://schemas.microsoft.com/office/drawing/2014/main" id="{B5B7A532-436B-4350-A492-5D5AB096D667}"/>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0424" y="1571349"/>
            <a:ext cx="10245013" cy="4677050"/>
          </a:xfrm>
          <a:prstGeom prst="rect">
            <a:avLst/>
          </a:prstGeom>
        </p:spPr>
      </p:pic>
    </p:spTree>
    <p:extLst>
      <p:ext uri="{BB962C8B-B14F-4D97-AF65-F5344CB8AC3E}">
        <p14:creationId xmlns:p14="http://schemas.microsoft.com/office/powerpoint/2010/main" val="1503728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C6AC7-E00F-4C97-965F-826CB39BB8FD}"/>
              </a:ext>
            </a:extLst>
          </p:cNvPr>
          <p:cNvSpPr>
            <a:spLocks noGrp="1"/>
          </p:cNvSpPr>
          <p:nvPr>
            <p:ph type="title"/>
          </p:nvPr>
        </p:nvSpPr>
        <p:spPr>
          <a:xfrm>
            <a:off x="913795" y="609600"/>
            <a:ext cx="10353761" cy="1086035"/>
          </a:xfrm>
        </p:spPr>
        <p:txBody>
          <a:bodyPr/>
          <a:lstStyle/>
          <a:p>
            <a:r>
              <a:rPr lang="en-IN" dirty="0"/>
              <a:t>WORKING</a:t>
            </a:r>
          </a:p>
        </p:txBody>
      </p:sp>
      <p:sp>
        <p:nvSpPr>
          <p:cNvPr id="3" name="Content Placeholder 2">
            <a:extLst>
              <a:ext uri="{FF2B5EF4-FFF2-40B4-BE49-F238E27FC236}">
                <a16:creationId xmlns:a16="http://schemas.microsoft.com/office/drawing/2014/main" id="{44A32AB8-DB7B-4AA4-8AC8-0A74B52647F4}"/>
              </a:ext>
            </a:extLst>
          </p:cNvPr>
          <p:cNvSpPr>
            <a:spLocks noGrp="1"/>
          </p:cNvSpPr>
          <p:nvPr>
            <p:ph idx="1"/>
          </p:nvPr>
        </p:nvSpPr>
        <p:spPr>
          <a:xfrm>
            <a:off x="913795" y="1846555"/>
            <a:ext cx="10353762" cy="3944645"/>
          </a:xfrm>
        </p:spPr>
        <p:txBody>
          <a:bodyPr>
            <a:normAutofit/>
          </a:bodyPr>
          <a:lstStyle/>
          <a:p>
            <a:r>
              <a:rPr lang="en-US" sz="1800" dirty="0">
                <a:effectLst/>
                <a:latin typeface="Calibri" panose="020F0502020204030204" pitchFamily="34" charset="0"/>
                <a:ea typeface="SimSun" panose="02010600030101010101" pitchFamily="2" charset="-122"/>
                <a:cs typeface="SimSun" panose="02010600030101010101" pitchFamily="2" charset="-122"/>
              </a:rPr>
              <a:t>We have connected the ACS712 current sensor in series with the line and load.</a:t>
            </a:r>
          </a:p>
          <a:p>
            <a:pPr marL="0" indent="0">
              <a:buNone/>
            </a:pPr>
            <a:endParaRPr lang="en-IN" sz="1800" dirty="0">
              <a:effectLst/>
              <a:latin typeface="Calibri" panose="020F0502020204030204" pitchFamily="34" charset="0"/>
              <a:ea typeface="SimSun" panose="02010600030101010101" pitchFamily="2" charset="-122"/>
            </a:endParaRPr>
          </a:p>
          <a:p>
            <a:pPr marL="0" indent="0">
              <a:buNone/>
            </a:pPr>
            <a:endParaRPr lang="en-IN" sz="1800" dirty="0">
              <a:effectLst/>
              <a:latin typeface="Calibri" panose="020F0502020204030204" pitchFamily="34" charset="0"/>
              <a:ea typeface="SimSun" panose="02010600030101010101" pitchFamily="2" charset="-122"/>
            </a:endParaRPr>
          </a:p>
          <a:p>
            <a:pPr marL="0" indent="0">
              <a:buNone/>
            </a:pPr>
            <a:endParaRPr lang="en-IN" sz="1800" dirty="0">
              <a:effectLst/>
              <a:latin typeface="Calibri" panose="020F0502020204030204" pitchFamily="34" charset="0"/>
              <a:ea typeface="SimSun" panose="02010600030101010101" pitchFamily="2" charset="-122"/>
            </a:endParaRPr>
          </a:p>
          <a:p>
            <a:pPr marL="0" indent="0">
              <a:buNone/>
            </a:pPr>
            <a:endParaRPr lang="en-IN" sz="1800" dirty="0">
              <a:effectLst/>
              <a:latin typeface="Calibri" panose="020F0502020204030204" pitchFamily="34" charset="0"/>
              <a:ea typeface="SimSun" panose="02010600030101010101" pitchFamily="2" charset="-122"/>
            </a:endParaRPr>
          </a:p>
          <a:p>
            <a:pPr marL="0" indent="0">
              <a:buNone/>
            </a:pPr>
            <a:endParaRPr lang="en-IN" sz="1800" dirty="0">
              <a:effectLst/>
              <a:latin typeface="Calibri" panose="020F0502020204030204" pitchFamily="34" charset="0"/>
              <a:ea typeface="SimSun" panose="02010600030101010101" pitchFamily="2" charset="-122"/>
            </a:endParaRPr>
          </a:p>
          <a:p>
            <a:r>
              <a:rPr lang="en-US" sz="1800" dirty="0">
                <a:effectLst/>
                <a:latin typeface="Calibri" panose="020F0502020204030204" pitchFamily="34" charset="0"/>
                <a:ea typeface="SimSun" panose="02010600030101010101" pitchFamily="2" charset="-122"/>
                <a:cs typeface="SimSun" panose="02010600030101010101" pitchFamily="2" charset="-122"/>
              </a:rPr>
              <a:t>by which we are getting the current flowing through the load.</a:t>
            </a: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r>
              <a:rPr lang="en-US" sz="1800" dirty="0">
                <a:effectLst/>
                <a:latin typeface="Calibri" panose="020F0502020204030204" pitchFamily="34" charset="0"/>
                <a:ea typeface="SimSun" panose="02010600030101010101" pitchFamily="2" charset="-122"/>
                <a:cs typeface="SimSun" panose="02010600030101010101" pitchFamily="2" charset="-122"/>
              </a:rPr>
              <a:t>on the basis of the current we are calculating the energy consumed by the load in unit time.</a:t>
            </a: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endParaRPr lang="en-IN" dirty="0"/>
          </a:p>
        </p:txBody>
      </p:sp>
      <p:pic>
        <p:nvPicPr>
          <p:cNvPr id="4" name="Picture 3">
            <a:extLst>
              <a:ext uri="{FF2B5EF4-FFF2-40B4-BE49-F238E27FC236}">
                <a16:creationId xmlns:a16="http://schemas.microsoft.com/office/drawing/2014/main" id="{47925AE5-F659-4092-B2F7-86CCAE94FF5D}"/>
              </a:ext>
            </a:extLst>
          </p:cNvPr>
          <p:cNvPicPr/>
          <p:nvPr/>
        </p:nvPicPr>
        <p:blipFill>
          <a:blip r:embed="rId2">
            <a:extLst>
              <a:ext uri="{28A0092B-C50C-407E-A947-70E740481C1C}">
                <a14:useLocalDpi xmlns:a14="http://schemas.microsoft.com/office/drawing/2010/main" val="0"/>
              </a:ext>
            </a:extLst>
          </a:blip>
          <a:stretch>
            <a:fillRect/>
          </a:stretch>
        </p:blipFill>
        <p:spPr>
          <a:xfrm>
            <a:off x="1899046" y="2457448"/>
            <a:ext cx="2133600" cy="1943100"/>
          </a:xfrm>
          <a:prstGeom prst="rect">
            <a:avLst/>
          </a:prstGeom>
        </p:spPr>
      </p:pic>
      <p:pic>
        <p:nvPicPr>
          <p:cNvPr id="5" name="Picture 4">
            <a:extLst>
              <a:ext uri="{FF2B5EF4-FFF2-40B4-BE49-F238E27FC236}">
                <a16:creationId xmlns:a16="http://schemas.microsoft.com/office/drawing/2014/main" id="{EC6A79C5-61F4-470E-BA81-E1C10E454723}"/>
              </a:ext>
            </a:extLst>
          </p:cNvPr>
          <p:cNvPicPr/>
          <p:nvPr/>
        </p:nvPicPr>
        <p:blipFill>
          <a:blip r:embed="rId3">
            <a:extLst>
              <a:ext uri="{28A0092B-C50C-407E-A947-70E740481C1C}">
                <a14:useLocalDpi xmlns:a14="http://schemas.microsoft.com/office/drawing/2010/main" val="0"/>
              </a:ext>
            </a:extLst>
          </a:blip>
          <a:stretch>
            <a:fillRect/>
          </a:stretch>
        </p:blipFill>
        <p:spPr>
          <a:xfrm>
            <a:off x="4595027" y="2572066"/>
            <a:ext cx="1847850" cy="1713865"/>
          </a:xfrm>
          <a:prstGeom prst="rect">
            <a:avLst/>
          </a:prstGeom>
        </p:spPr>
      </p:pic>
      <p:pic>
        <p:nvPicPr>
          <p:cNvPr id="6" name="Picture 5">
            <a:extLst>
              <a:ext uri="{FF2B5EF4-FFF2-40B4-BE49-F238E27FC236}">
                <a16:creationId xmlns:a16="http://schemas.microsoft.com/office/drawing/2014/main" id="{FABDECFF-6C9E-4674-825F-DD7196C0B3F2}"/>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7005258" y="2769869"/>
            <a:ext cx="1927860" cy="1318260"/>
          </a:xfrm>
          <a:prstGeom prst="rect">
            <a:avLst/>
          </a:prstGeom>
        </p:spPr>
      </p:pic>
    </p:spTree>
    <p:extLst>
      <p:ext uri="{BB962C8B-B14F-4D97-AF65-F5344CB8AC3E}">
        <p14:creationId xmlns:p14="http://schemas.microsoft.com/office/powerpoint/2010/main" val="485305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51512D-4079-43ED-A8F8-31C9C9612728}"/>
              </a:ext>
            </a:extLst>
          </p:cNvPr>
          <p:cNvSpPr>
            <a:spLocks noGrp="1"/>
          </p:cNvSpPr>
          <p:nvPr>
            <p:ph idx="1"/>
          </p:nvPr>
        </p:nvSpPr>
        <p:spPr>
          <a:xfrm>
            <a:off x="913795" y="443883"/>
            <a:ext cx="10353762" cy="5338439"/>
          </a:xfrm>
        </p:spPr>
        <p:txBody>
          <a:bodyPr/>
          <a:lstStyle/>
          <a:p>
            <a:r>
              <a:rPr lang="en-US" sz="1800" dirty="0">
                <a:effectLst/>
                <a:latin typeface="Calibri" panose="020F0502020204030204" pitchFamily="34" charset="0"/>
                <a:ea typeface="SimSun" panose="02010600030101010101" pitchFamily="2" charset="-122"/>
                <a:cs typeface="SimSun" panose="02010600030101010101" pitchFamily="2" charset="-122"/>
              </a:rPr>
              <a:t>and uploading the watt data to our data set in google sheets via http protocol.</a:t>
            </a: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pPr marL="0" indent="0">
              <a:buNone/>
            </a:pPr>
            <a:endParaRPr lang="en-IN" dirty="0"/>
          </a:p>
        </p:txBody>
      </p:sp>
      <p:pic>
        <p:nvPicPr>
          <p:cNvPr id="4" name="Picture 3">
            <a:extLst>
              <a:ext uri="{FF2B5EF4-FFF2-40B4-BE49-F238E27FC236}">
                <a16:creationId xmlns:a16="http://schemas.microsoft.com/office/drawing/2014/main" id="{70637658-0882-4E25-A27D-592D088C6A6E}"/>
              </a:ext>
            </a:extLst>
          </p:cNvPr>
          <p:cNvPicPr/>
          <p:nvPr/>
        </p:nvPicPr>
        <p:blipFill>
          <a:blip r:embed="rId2">
            <a:extLst>
              <a:ext uri="{28A0092B-C50C-407E-A947-70E740481C1C}">
                <a14:useLocalDpi xmlns:a14="http://schemas.microsoft.com/office/drawing/2010/main" val="0"/>
              </a:ext>
            </a:extLst>
          </a:blip>
          <a:stretch>
            <a:fillRect/>
          </a:stretch>
        </p:blipFill>
        <p:spPr>
          <a:xfrm>
            <a:off x="695669" y="1136341"/>
            <a:ext cx="10582535" cy="4749553"/>
          </a:xfrm>
          <a:prstGeom prst="rect">
            <a:avLst/>
          </a:prstGeom>
        </p:spPr>
      </p:pic>
    </p:spTree>
    <p:extLst>
      <p:ext uri="{BB962C8B-B14F-4D97-AF65-F5344CB8AC3E}">
        <p14:creationId xmlns:p14="http://schemas.microsoft.com/office/powerpoint/2010/main" val="3944156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2213DBB-62DF-45CF-900A-B8A0CB400E40}"/>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378126" y="488950"/>
            <a:ext cx="9426222" cy="5302250"/>
          </a:xfrm>
          <a:prstGeom prst="rect">
            <a:avLst/>
          </a:prstGeom>
        </p:spPr>
      </p:pic>
    </p:spTree>
    <p:extLst>
      <p:ext uri="{BB962C8B-B14F-4D97-AF65-F5344CB8AC3E}">
        <p14:creationId xmlns:p14="http://schemas.microsoft.com/office/powerpoint/2010/main" val="2152132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66715D-2368-4E3E-A280-770F685B0C3A}"/>
              </a:ext>
            </a:extLst>
          </p:cNvPr>
          <p:cNvSpPr>
            <a:spLocks noGrp="1"/>
          </p:cNvSpPr>
          <p:nvPr>
            <p:ph idx="1"/>
          </p:nvPr>
        </p:nvSpPr>
        <p:spPr>
          <a:xfrm>
            <a:off x="913795" y="435006"/>
            <a:ext cx="10353762" cy="5859262"/>
          </a:xfrm>
        </p:spPr>
        <p:txBody>
          <a:bodyPr/>
          <a:lstStyle/>
          <a:p>
            <a:r>
              <a:rPr lang="en-US" sz="1800" dirty="0">
                <a:effectLst/>
                <a:latin typeface="Calibri" panose="020F0502020204030204" pitchFamily="34" charset="0"/>
                <a:ea typeface="SimSun" panose="02010600030101010101" pitchFamily="2" charset="-122"/>
                <a:cs typeface="SimSun" panose="02010600030101010101" pitchFamily="2" charset="-122"/>
              </a:rPr>
              <a:t>Power data is getting stored every 3 second in the dataset.</a:t>
            </a: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r>
              <a:rPr lang="en-US" sz="1800" dirty="0">
                <a:effectLst/>
                <a:latin typeface="Calibri" panose="020F0502020204030204" pitchFamily="34" charset="0"/>
                <a:ea typeface="SimSun" panose="02010600030101010101" pitchFamily="2" charset="-122"/>
                <a:cs typeface="SimSun" panose="02010600030101010101" pitchFamily="2" charset="-122"/>
              </a:rPr>
              <a:t>After that this collected data converted into graphical to understand the consumption of energy of appliance.</a:t>
            </a: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r>
              <a:rPr lang="en-US" sz="1800" dirty="0">
                <a:effectLst/>
                <a:latin typeface="Calibri" panose="020F0502020204030204" pitchFamily="34" charset="0"/>
                <a:ea typeface="SimSun" panose="02010600030101010101" pitchFamily="2" charset="-122"/>
                <a:cs typeface="SimSun" panose="02010600030101010101" pitchFamily="2" charset="-122"/>
              </a:rPr>
              <a:t>This collected data we show in form of the different types of chart.</a:t>
            </a:r>
          </a:p>
          <a:p>
            <a:endParaRPr lang="en-US" sz="1800" dirty="0">
              <a:effectLst/>
              <a:latin typeface="Calibri" panose="020F0502020204030204" pitchFamily="34" charset="0"/>
              <a:ea typeface="SimSun" panose="02010600030101010101" pitchFamily="2" charset="-122"/>
              <a:cs typeface="SimSun" panose="02010600030101010101" pitchFamily="2" charset="-122"/>
            </a:endParaRPr>
          </a:p>
          <a:p>
            <a:pPr marL="0" indent="0">
              <a:buNone/>
            </a:pP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pPr marL="0" indent="0">
              <a:buNone/>
            </a:pPr>
            <a:endParaRPr lang="en-IN" dirty="0"/>
          </a:p>
        </p:txBody>
      </p:sp>
      <p:pic>
        <p:nvPicPr>
          <p:cNvPr id="4" name="Picture 3">
            <a:extLst>
              <a:ext uri="{FF2B5EF4-FFF2-40B4-BE49-F238E27FC236}">
                <a16:creationId xmlns:a16="http://schemas.microsoft.com/office/drawing/2014/main" id="{FB79846C-E445-4AE7-B302-9CA55F14A613}"/>
              </a:ext>
            </a:extLst>
          </p:cNvPr>
          <p:cNvPicPr/>
          <p:nvPr/>
        </p:nvPicPr>
        <p:blipFill>
          <a:blip r:embed="rId2">
            <a:extLst>
              <a:ext uri="{28A0092B-C50C-407E-A947-70E740481C1C}">
                <a14:useLocalDpi xmlns:a14="http://schemas.microsoft.com/office/drawing/2010/main" val="0"/>
              </a:ext>
            </a:extLst>
          </a:blip>
          <a:stretch>
            <a:fillRect/>
          </a:stretch>
        </p:blipFill>
        <p:spPr>
          <a:xfrm>
            <a:off x="2239534" y="2421011"/>
            <a:ext cx="6043930" cy="3738245"/>
          </a:xfrm>
          <a:prstGeom prst="rect">
            <a:avLst/>
          </a:prstGeom>
        </p:spPr>
      </p:pic>
    </p:spTree>
    <p:extLst>
      <p:ext uri="{BB962C8B-B14F-4D97-AF65-F5344CB8AC3E}">
        <p14:creationId xmlns:p14="http://schemas.microsoft.com/office/powerpoint/2010/main" val="2146097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4DD5CF-A822-477B-ACE7-B877D5663341}"/>
              </a:ext>
            </a:extLst>
          </p:cNvPr>
          <p:cNvSpPr>
            <a:spLocks noGrp="1"/>
          </p:cNvSpPr>
          <p:nvPr>
            <p:ph idx="1"/>
          </p:nvPr>
        </p:nvSpPr>
        <p:spPr>
          <a:xfrm>
            <a:off x="913795" y="346228"/>
            <a:ext cx="10353762" cy="6045693"/>
          </a:xfrm>
        </p:spPr>
        <p:txBody>
          <a:bodyPr>
            <a:normAutofit lnSpcReduction="10000"/>
          </a:bodyPr>
          <a:lstStyle/>
          <a:p>
            <a:r>
              <a:rPr lang="en-US" sz="1800" dirty="0">
                <a:effectLst/>
                <a:latin typeface="Calibri" panose="020F0502020204030204" pitchFamily="34" charset="0"/>
                <a:ea typeface="SimSun" panose="02010600030101010101" pitchFamily="2" charset="-122"/>
                <a:cs typeface="SimSun" panose="02010600030101010101" pitchFamily="2" charset="-122"/>
              </a:rPr>
              <a:t>This chart shows as power consumption of appliance of every 3 second by this we can see the power consumption of appliance in form of chart.</a:t>
            </a:r>
          </a:p>
          <a:p>
            <a:pPr marL="0" indent="0">
              <a:buNone/>
            </a:pP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pPr marL="0" indent="0">
              <a:buNone/>
            </a:pP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pPr marL="0" indent="0">
              <a:buNone/>
            </a:pP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pPr marL="0" indent="0">
              <a:buNone/>
            </a:pP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pPr marL="0" indent="0">
              <a:buNone/>
            </a:pP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pPr marL="0" indent="0">
              <a:buNone/>
            </a:pP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pPr marL="0" indent="0">
              <a:buNone/>
            </a:pP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pPr marL="0" indent="0">
              <a:buNone/>
            </a:pP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pPr marL="0" indent="0">
              <a:buNone/>
            </a:pP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r>
              <a:rPr lang="en-US" sz="1800" dirty="0">
                <a:effectLst/>
                <a:latin typeface="Calibri" panose="020F0502020204030204" pitchFamily="34" charset="0"/>
                <a:ea typeface="SimSun" panose="02010600030101010101" pitchFamily="2" charset="-122"/>
                <a:cs typeface="SimSun" panose="02010600030101010101" pitchFamily="2" charset="-122"/>
              </a:rPr>
              <a:t>We can see the consumption of the power of last month.</a:t>
            </a: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r>
              <a:rPr lang="en-US" sz="1800" dirty="0">
                <a:effectLst/>
                <a:latin typeface="Calibri" panose="020F0502020204030204" pitchFamily="34" charset="0"/>
                <a:ea typeface="SimSun" panose="02010600030101010101" pitchFamily="2" charset="-122"/>
                <a:cs typeface="SimSun" panose="02010600030101010101" pitchFamily="2" charset="-122"/>
              </a:rPr>
              <a:t>And then we can predict the electricity bill of next month by observing the data chart of the power consumption of appliance.</a:t>
            </a: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pPr marL="0" indent="0">
              <a:buNone/>
            </a:pPr>
            <a:endParaRPr lang="en-IN" sz="1800" dirty="0">
              <a:effectLst/>
              <a:latin typeface="Calibri" panose="020F0502020204030204" pitchFamily="34" charset="0"/>
              <a:ea typeface="SimSun" panose="02010600030101010101" pitchFamily="2" charset="-122"/>
              <a:cs typeface="SimSun" panose="02010600030101010101" pitchFamily="2" charset="-122"/>
            </a:endParaRPr>
          </a:p>
        </p:txBody>
      </p:sp>
      <p:pic>
        <p:nvPicPr>
          <p:cNvPr id="4" name="Picture 3">
            <a:extLst>
              <a:ext uri="{FF2B5EF4-FFF2-40B4-BE49-F238E27FC236}">
                <a16:creationId xmlns:a16="http://schemas.microsoft.com/office/drawing/2014/main" id="{B195CA3B-3F05-49B7-8500-F6FB4D0864DD}"/>
              </a:ext>
            </a:extLst>
          </p:cNvPr>
          <p:cNvPicPr/>
          <p:nvPr/>
        </p:nvPicPr>
        <p:blipFill>
          <a:blip r:embed="rId2">
            <a:extLst>
              <a:ext uri="{28A0092B-C50C-407E-A947-70E740481C1C}">
                <a14:useLocalDpi xmlns:a14="http://schemas.microsoft.com/office/drawing/2010/main" val="0"/>
              </a:ext>
            </a:extLst>
          </a:blip>
          <a:stretch>
            <a:fillRect/>
          </a:stretch>
        </p:blipFill>
        <p:spPr>
          <a:xfrm>
            <a:off x="1935332" y="1216241"/>
            <a:ext cx="7178823" cy="3622089"/>
          </a:xfrm>
          <a:prstGeom prst="rect">
            <a:avLst/>
          </a:prstGeom>
        </p:spPr>
      </p:pic>
    </p:spTree>
    <p:extLst>
      <p:ext uri="{BB962C8B-B14F-4D97-AF65-F5344CB8AC3E}">
        <p14:creationId xmlns:p14="http://schemas.microsoft.com/office/powerpoint/2010/main" val="2335597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58F9C-3AC7-4EB9-B26E-F3CC44355216}"/>
              </a:ext>
            </a:extLst>
          </p:cNvPr>
          <p:cNvSpPr>
            <a:spLocks noGrp="1"/>
          </p:cNvSpPr>
          <p:nvPr>
            <p:ph type="title"/>
          </p:nvPr>
        </p:nvSpPr>
        <p:spPr>
          <a:xfrm>
            <a:off x="913795" y="292964"/>
            <a:ext cx="10353761" cy="1322772"/>
          </a:xfrm>
        </p:spPr>
        <p:txBody>
          <a:bodyPr>
            <a:normAutofit/>
          </a:bodyPr>
          <a:lstStyle/>
          <a:p>
            <a:r>
              <a:rPr lang="en-US" sz="3200" dirty="0">
                <a:effectLst/>
                <a:latin typeface="Calibri" panose="020F0502020204030204" pitchFamily="34" charset="0"/>
                <a:ea typeface="SimSun" panose="02010600030101010101" pitchFamily="2" charset="-122"/>
                <a:cs typeface="SimSun" panose="02010600030101010101" pitchFamily="2" charset="-122"/>
              </a:rPr>
              <a:t>Machine learning </a:t>
            </a:r>
            <a:endParaRPr lang="en-IN" sz="3200" dirty="0"/>
          </a:p>
        </p:txBody>
      </p:sp>
      <p:pic>
        <p:nvPicPr>
          <p:cNvPr id="4" name="Content Placeholder 3">
            <a:extLst>
              <a:ext uri="{FF2B5EF4-FFF2-40B4-BE49-F238E27FC236}">
                <a16:creationId xmlns:a16="http://schemas.microsoft.com/office/drawing/2014/main" id="{A59151D9-2ADA-4B25-9014-AACCAF506301}"/>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594805" y="1305017"/>
            <a:ext cx="11265762" cy="5260019"/>
          </a:xfrm>
          <a:prstGeom prst="rect">
            <a:avLst/>
          </a:prstGeom>
        </p:spPr>
      </p:pic>
    </p:spTree>
    <p:extLst>
      <p:ext uri="{BB962C8B-B14F-4D97-AF65-F5344CB8AC3E}">
        <p14:creationId xmlns:p14="http://schemas.microsoft.com/office/powerpoint/2010/main" val="1417434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14CCEFB-A538-411F-B68D-6FD3B3826353}"/>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91471" y="80084"/>
            <a:ext cx="11438278" cy="3151388"/>
          </a:xfrm>
          <a:prstGeom prst="rect">
            <a:avLst/>
          </a:prstGeom>
        </p:spPr>
      </p:pic>
      <p:pic>
        <p:nvPicPr>
          <p:cNvPr id="6" name="Picture 5">
            <a:extLst>
              <a:ext uri="{FF2B5EF4-FFF2-40B4-BE49-F238E27FC236}">
                <a16:creationId xmlns:a16="http://schemas.microsoft.com/office/drawing/2014/main" id="{2180639C-D1F2-4606-975D-0E870AE97097}"/>
              </a:ext>
            </a:extLst>
          </p:cNvPr>
          <p:cNvPicPr/>
          <p:nvPr/>
        </p:nvPicPr>
        <p:blipFill>
          <a:blip r:embed="rId3">
            <a:extLst>
              <a:ext uri="{28A0092B-C50C-407E-A947-70E740481C1C}">
                <a14:useLocalDpi xmlns:a14="http://schemas.microsoft.com/office/drawing/2010/main" val="0"/>
              </a:ext>
            </a:extLst>
          </a:blip>
          <a:stretch>
            <a:fillRect/>
          </a:stretch>
        </p:blipFill>
        <p:spPr>
          <a:xfrm>
            <a:off x="191471" y="3329126"/>
            <a:ext cx="11438278" cy="3396083"/>
          </a:xfrm>
          <a:prstGeom prst="rect">
            <a:avLst/>
          </a:prstGeom>
        </p:spPr>
      </p:pic>
    </p:spTree>
    <p:extLst>
      <p:ext uri="{BB962C8B-B14F-4D97-AF65-F5344CB8AC3E}">
        <p14:creationId xmlns:p14="http://schemas.microsoft.com/office/powerpoint/2010/main" val="2350052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A27FD25-A247-49CA-8798-695DAB0D803F}"/>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204186" y="27003"/>
            <a:ext cx="11851689" cy="3204469"/>
          </a:xfrm>
          <a:prstGeom prst="rect">
            <a:avLst/>
          </a:prstGeom>
        </p:spPr>
      </p:pic>
      <p:pic>
        <p:nvPicPr>
          <p:cNvPr id="5" name="Picture 4">
            <a:extLst>
              <a:ext uri="{FF2B5EF4-FFF2-40B4-BE49-F238E27FC236}">
                <a16:creationId xmlns:a16="http://schemas.microsoft.com/office/drawing/2014/main" id="{FF5FCD8A-9A8E-4D6B-AAAF-15726DDA5FAE}"/>
              </a:ext>
            </a:extLst>
          </p:cNvPr>
          <p:cNvPicPr/>
          <p:nvPr/>
        </p:nvPicPr>
        <p:blipFill>
          <a:blip r:embed="rId3">
            <a:extLst>
              <a:ext uri="{28A0092B-C50C-407E-A947-70E740481C1C}">
                <a14:useLocalDpi xmlns:a14="http://schemas.microsoft.com/office/drawing/2010/main" val="0"/>
              </a:ext>
            </a:extLst>
          </a:blip>
          <a:stretch>
            <a:fillRect/>
          </a:stretch>
        </p:blipFill>
        <p:spPr>
          <a:xfrm>
            <a:off x="204186" y="3429000"/>
            <a:ext cx="11851689" cy="3491143"/>
          </a:xfrm>
          <a:prstGeom prst="rect">
            <a:avLst/>
          </a:prstGeom>
        </p:spPr>
      </p:pic>
    </p:spTree>
    <p:extLst>
      <p:ext uri="{BB962C8B-B14F-4D97-AF65-F5344CB8AC3E}">
        <p14:creationId xmlns:p14="http://schemas.microsoft.com/office/powerpoint/2010/main" val="144333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34E967-7DE5-4425-906E-BA8CE519B87A}"/>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66B7D1DD-902C-4CA9-B179-EE4B6F1C0892}"/>
              </a:ext>
            </a:extLst>
          </p:cNvPr>
          <p:cNvPicPr/>
          <p:nvPr/>
        </p:nvPicPr>
        <p:blipFill>
          <a:blip r:embed="rId2">
            <a:extLst>
              <a:ext uri="{28A0092B-C50C-407E-A947-70E740481C1C}">
                <a14:useLocalDpi xmlns:a14="http://schemas.microsoft.com/office/drawing/2010/main" val="0"/>
              </a:ext>
            </a:extLst>
          </a:blip>
          <a:stretch>
            <a:fillRect/>
          </a:stretch>
        </p:blipFill>
        <p:spPr>
          <a:xfrm>
            <a:off x="195308" y="97655"/>
            <a:ext cx="11789545" cy="3400147"/>
          </a:xfrm>
          <a:prstGeom prst="rect">
            <a:avLst/>
          </a:prstGeom>
        </p:spPr>
      </p:pic>
      <p:pic>
        <p:nvPicPr>
          <p:cNvPr id="5" name="Picture 4">
            <a:extLst>
              <a:ext uri="{FF2B5EF4-FFF2-40B4-BE49-F238E27FC236}">
                <a16:creationId xmlns:a16="http://schemas.microsoft.com/office/drawing/2014/main" id="{40D99073-A3B4-43BF-BAAF-BAC93617CD40}"/>
              </a:ext>
            </a:extLst>
          </p:cNvPr>
          <p:cNvPicPr/>
          <p:nvPr/>
        </p:nvPicPr>
        <p:blipFill>
          <a:blip r:embed="rId3">
            <a:extLst>
              <a:ext uri="{28A0092B-C50C-407E-A947-70E740481C1C}">
                <a14:useLocalDpi xmlns:a14="http://schemas.microsoft.com/office/drawing/2010/main" val="0"/>
              </a:ext>
            </a:extLst>
          </a:blip>
          <a:stretch>
            <a:fillRect/>
          </a:stretch>
        </p:blipFill>
        <p:spPr>
          <a:xfrm>
            <a:off x="195307" y="3627088"/>
            <a:ext cx="11789545" cy="3133257"/>
          </a:xfrm>
          <a:prstGeom prst="rect">
            <a:avLst/>
          </a:prstGeom>
        </p:spPr>
      </p:pic>
    </p:spTree>
    <p:extLst>
      <p:ext uri="{BB962C8B-B14F-4D97-AF65-F5344CB8AC3E}">
        <p14:creationId xmlns:p14="http://schemas.microsoft.com/office/powerpoint/2010/main" val="4126951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E590F1-CBF8-485B-BCB0-20293AF778DA}"/>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AC61CF0-D856-419B-B734-EE550DD67300}"/>
              </a:ext>
            </a:extLst>
          </p:cNvPr>
          <p:cNvPicPr/>
          <p:nvPr/>
        </p:nvPicPr>
        <p:blipFill>
          <a:blip r:embed="rId2">
            <a:extLst>
              <a:ext uri="{28A0092B-C50C-407E-A947-70E740481C1C}">
                <a14:useLocalDpi xmlns:a14="http://schemas.microsoft.com/office/drawing/2010/main" val="0"/>
              </a:ext>
            </a:extLst>
          </a:blip>
          <a:stretch>
            <a:fillRect/>
          </a:stretch>
        </p:blipFill>
        <p:spPr>
          <a:xfrm>
            <a:off x="223935" y="85640"/>
            <a:ext cx="11737910" cy="6585748"/>
          </a:xfrm>
          <a:prstGeom prst="rect">
            <a:avLst/>
          </a:prstGeom>
        </p:spPr>
      </p:pic>
    </p:spTree>
    <p:extLst>
      <p:ext uri="{BB962C8B-B14F-4D97-AF65-F5344CB8AC3E}">
        <p14:creationId xmlns:p14="http://schemas.microsoft.com/office/powerpoint/2010/main" val="1648692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D1F40A-BC90-4398-8C61-A758059FA093}"/>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C4A724F2-2869-489D-B6D9-5B87330EFE63}"/>
              </a:ext>
            </a:extLst>
          </p:cNvPr>
          <p:cNvPicPr/>
          <p:nvPr/>
        </p:nvPicPr>
        <p:blipFill>
          <a:blip r:embed="rId2">
            <a:extLst>
              <a:ext uri="{28A0092B-C50C-407E-A947-70E740481C1C}">
                <a14:useLocalDpi xmlns:a14="http://schemas.microsoft.com/office/drawing/2010/main" val="0"/>
              </a:ext>
            </a:extLst>
          </a:blip>
          <a:stretch>
            <a:fillRect/>
          </a:stretch>
        </p:blipFill>
        <p:spPr>
          <a:xfrm>
            <a:off x="223934" y="177283"/>
            <a:ext cx="11719249" cy="6391468"/>
          </a:xfrm>
          <a:prstGeom prst="rect">
            <a:avLst/>
          </a:prstGeom>
        </p:spPr>
      </p:pic>
    </p:spTree>
    <p:extLst>
      <p:ext uri="{BB962C8B-B14F-4D97-AF65-F5344CB8AC3E}">
        <p14:creationId xmlns:p14="http://schemas.microsoft.com/office/powerpoint/2010/main" val="4249566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50623-92E5-4055-BF98-5A72C9E08C5B}"/>
              </a:ext>
            </a:extLst>
          </p:cNvPr>
          <p:cNvSpPr>
            <a:spLocks noGrp="1"/>
          </p:cNvSpPr>
          <p:nvPr>
            <p:ph type="title"/>
          </p:nvPr>
        </p:nvSpPr>
        <p:spPr>
          <a:xfrm>
            <a:off x="913795" y="292963"/>
            <a:ext cx="10353761" cy="1038687"/>
          </a:xfrm>
        </p:spPr>
        <p:txBody>
          <a:bodyPr/>
          <a:lstStyle/>
          <a:p>
            <a:r>
              <a:rPr lang="en-US" sz="3200" dirty="0">
                <a:solidFill>
                  <a:schemeClr val="tx2"/>
                </a:solidFill>
                <a:effectLst/>
                <a:latin typeface="Calibri" panose="020F0502020204030204" pitchFamily="34" charset="0"/>
                <a:ea typeface="SimSun" panose="02010600030101010101" pitchFamily="2" charset="-122"/>
                <a:cs typeface="Calibri" panose="020F0502020204030204" pitchFamily="34" charset="0"/>
              </a:rPr>
              <a:t>Aim and objectives of the project</a:t>
            </a:r>
            <a:br>
              <a:rPr lang="en-IN" sz="1800" dirty="0">
                <a:effectLst/>
                <a:latin typeface="Calibri" panose="020F0502020204030204" pitchFamily="34" charset="0"/>
                <a:ea typeface="SimSun" panose="02010600030101010101" pitchFamily="2" charset="-122"/>
                <a:cs typeface="SimSun" panose="02010600030101010101" pitchFamily="2" charset="-122"/>
              </a:rPr>
            </a:br>
            <a:endParaRPr lang="en-IN" dirty="0"/>
          </a:p>
        </p:txBody>
      </p:sp>
      <p:sp>
        <p:nvSpPr>
          <p:cNvPr id="3" name="Content Placeholder 2">
            <a:extLst>
              <a:ext uri="{FF2B5EF4-FFF2-40B4-BE49-F238E27FC236}">
                <a16:creationId xmlns:a16="http://schemas.microsoft.com/office/drawing/2014/main" id="{8906967D-93B8-4FE2-9C5B-BD6EFC1DDC0B}"/>
              </a:ext>
            </a:extLst>
          </p:cNvPr>
          <p:cNvSpPr>
            <a:spLocks noGrp="1"/>
          </p:cNvSpPr>
          <p:nvPr>
            <p:ph idx="1"/>
          </p:nvPr>
        </p:nvSpPr>
        <p:spPr>
          <a:xfrm>
            <a:off x="913795" y="1518082"/>
            <a:ext cx="10353762" cy="4273118"/>
          </a:xfrm>
        </p:spPr>
        <p:txBody>
          <a:bodyPr/>
          <a:lstStyle/>
          <a:p>
            <a:pPr marL="457200"/>
            <a:r>
              <a:rPr lang="en-US" sz="1800" dirty="0">
                <a:solidFill>
                  <a:schemeClr val="tx2"/>
                </a:solidFill>
                <a:effectLst/>
                <a:latin typeface="Calibri" panose="020F0502020204030204" pitchFamily="34" charset="0"/>
                <a:ea typeface="SimSun" panose="02010600030101010101" pitchFamily="2" charset="-122"/>
                <a:cs typeface="SimSun" panose="02010600030101010101" pitchFamily="2" charset="-122"/>
              </a:rPr>
              <a:t>To make use of electric energy efficient.</a:t>
            </a:r>
          </a:p>
          <a:p>
            <a:pPr marL="457200"/>
            <a:r>
              <a:rPr lang="en-US" sz="1800" dirty="0">
                <a:solidFill>
                  <a:schemeClr val="tx2"/>
                </a:solidFill>
                <a:effectLst/>
                <a:latin typeface="Calibri" panose="020F0502020204030204" pitchFamily="34" charset="0"/>
                <a:ea typeface="SimSun" panose="02010600030101010101" pitchFamily="2" charset="-122"/>
                <a:cs typeface="SimSun" panose="02010600030101010101" pitchFamily="2" charset="-122"/>
              </a:rPr>
              <a:t>Collect data which could be helpful for data scientist for research and analysis purpose.</a:t>
            </a:r>
            <a:endParaRPr lang="en-IN" sz="1800" dirty="0">
              <a:solidFill>
                <a:schemeClr val="tx2"/>
              </a:solidFill>
              <a:effectLst/>
              <a:latin typeface="Calibri" panose="020F0502020204030204" pitchFamily="34" charset="0"/>
              <a:ea typeface="SimSun" panose="02010600030101010101" pitchFamily="2" charset="-122"/>
              <a:cs typeface="SimSun" panose="02010600030101010101" pitchFamily="2" charset="-122"/>
            </a:endParaRPr>
          </a:p>
          <a:p>
            <a:pPr marL="457200"/>
            <a:r>
              <a:rPr lang="en-US" sz="1800" dirty="0">
                <a:solidFill>
                  <a:schemeClr val="tx2"/>
                </a:solidFill>
                <a:effectLst/>
                <a:latin typeface="Calibri" panose="020F0502020204030204" pitchFamily="34" charset="0"/>
                <a:ea typeface="SimSun" panose="02010600030101010101" pitchFamily="2" charset="-122"/>
                <a:cs typeface="SimSun" panose="02010600030101010101" pitchFamily="2" charset="-122"/>
              </a:rPr>
              <a:t> Individual could know the power consumption by the electric appliances</a:t>
            </a:r>
            <a:r>
              <a:rPr lang="en-US" sz="1800" dirty="0">
                <a:solidFill>
                  <a:schemeClr val="tx2"/>
                </a:solidFill>
                <a:effectLst/>
                <a:latin typeface="Calibri" panose="020F0502020204030204" pitchFamily="34" charset="0"/>
                <a:ea typeface="SimSun" panose="02010600030101010101" pitchFamily="2" charset="-122"/>
              </a:rPr>
              <a:t>. </a:t>
            </a:r>
          </a:p>
          <a:p>
            <a:pPr marL="457200"/>
            <a:endParaRPr lang="en-US" sz="1800" dirty="0">
              <a:solidFill>
                <a:schemeClr val="tx2"/>
              </a:solidFill>
              <a:effectLst/>
              <a:latin typeface="Calibri" panose="020F0502020204030204" pitchFamily="34" charset="0"/>
              <a:ea typeface="SimSun" panose="02010600030101010101" pitchFamily="2" charset="-122"/>
            </a:endParaRPr>
          </a:p>
          <a:p>
            <a:pPr marL="457200"/>
            <a:endParaRPr lang="en-IN" sz="1800" dirty="0">
              <a:solidFill>
                <a:schemeClr val="tx2"/>
              </a:solidFill>
              <a:effectLst/>
              <a:latin typeface="Calibri" panose="020F0502020204030204" pitchFamily="34" charset="0"/>
              <a:ea typeface="SimSun" panose="02010600030101010101" pitchFamily="2" charset="-122"/>
              <a:cs typeface="SimSun" panose="02010600030101010101" pitchFamily="2" charset="-122"/>
            </a:endParaRPr>
          </a:p>
          <a:p>
            <a:pPr marL="0" indent="0">
              <a:buNone/>
            </a:pPr>
            <a:endParaRPr lang="en-IN" dirty="0"/>
          </a:p>
        </p:txBody>
      </p:sp>
    </p:spTree>
    <p:extLst>
      <p:ext uri="{BB962C8B-B14F-4D97-AF65-F5344CB8AC3E}">
        <p14:creationId xmlns:p14="http://schemas.microsoft.com/office/powerpoint/2010/main" val="480124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F5E01-DD47-47BA-8E50-99807338F173}"/>
              </a:ext>
            </a:extLst>
          </p:cNvPr>
          <p:cNvSpPr>
            <a:spLocks noGrp="1"/>
          </p:cNvSpPr>
          <p:nvPr>
            <p:ph type="title"/>
          </p:nvPr>
        </p:nvSpPr>
        <p:spPr/>
        <p:txBody>
          <a:bodyPr/>
          <a:lstStyle/>
          <a:p>
            <a:r>
              <a:rPr lang="en-IN" sz="4000" u="sng" dirty="0">
                <a:solidFill>
                  <a:schemeClr val="tx2"/>
                </a:solidFill>
                <a:effectLst/>
                <a:latin typeface="Calibri" panose="020F0502020204030204" pitchFamily="34" charset="0"/>
                <a:ea typeface="SimSun" panose="02010600030101010101" pitchFamily="2" charset="-122"/>
                <a:cs typeface="SimSun" panose="02010600030101010101" pitchFamily="2" charset="-122"/>
              </a:rPr>
              <a:t>Conclusion</a:t>
            </a:r>
            <a:br>
              <a:rPr lang="en-IN" sz="1800" dirty="0">
                <a:effectLst/>
                <a:latin typeface="Calibri" panose="020F0502020204030204" pitchFamily="34" charset="0"/>
                <a:ea typeface="SimSun" panose="02010600030101010101" pitchFamily="2" charset="-122"/>
                <a:cs typeface="SimSun" panose="02010600030101010101" pitchFamily="2" charset="-122"/>
              </a:rPr>
            </a:br>
            <a:endParaRPr lang="en-IN" dirty="0"/>
          </a:p>
        </p:txBody>
      </p:sp>
      <p:sp>
        <p:nvSpPr>
          <p:cNvPr id="3" name="Content Placeholder 2">
            <a:extLst>
              <a:ext uri="{FF2B5EF4-FFF2-40B4-BE49-F238E27FC236}">
                <a16:creationId xmlns:a16="http://schemas.microsoft.com/office/drawing/2014/main" id="{8A3F540F-EEE3-4EB6-A0BD-A1950EF9C214}"/>
              </a:ext>
            </a:extLst>
          </p:cNvPr>
          <p:cNvSpPr>
            <a:spLocks noGrp="1"/>
          </p:cNvSpPr>
          <p:nvPr>
            <p:ph idx="1"/>
          </p:nvPr>
        </p:nvSpPr>
        <p:spPr>
          <a:xfrm>
            <a:off x="913795" y="1802167"/>
            <a:ext cx="10353762" cy="3989033"/>
          </a:xfrm>
        </p:spPr>
        <p:txBody>
          <a:bodyPr/>
          <a:lstStyle/>
          <a:p>
            <a:pPr marL="514350" indent="-285750"/>
            <a:r>
              <a:rPr lang="en-US" sz="1800" dirty="0">
                <a:effectLst/>
                <a:latin typeface="Calibri" panose="020F0502020204030204" pitchFamily="34" charset="0"/>
                <a:ea typeface="SimSun" panose="02010600030101010101" pitchFamily="2" charset="-122"/>
                <a:cs typeface="SimSun" panose="02010600030101010101" pitchFamily="2" charset="-122"/>
              </a:rPr>
              <a:t>Electric energy is going to take over all other energy sources in the near future our aim is to monitor its usage and collect data for research and development and make the use of this energy as efficient as possible.</a:t>
            </a:r>
          </a:p>
          <a:p>
            <a:pPr marL="514350" indent="-285750"/>
            <a:r>
              <a:rPr lang="en-IN" sz="1800" dirty="0">
                <a:effectLst/>
                <a:latin typeface="Calibri" panose="020F0502020204030204" pitchFamily="34" charset="0"/>
                <a:ea typeface="SimSun" panose="02010600030101010101" pitchFamily="2" charset="-122"/>
                <a:cs typeface="SimSun" panose="02010600030101010101" pitchFamily="2" charset="-122"/>
              </a:rPr>
              <a:t>Our project  does all these things and the power consumption by the monitoring devices is very low</a:t>
            </a:r>
          </a:p>
          <a:p>
            <a:pPr marL="514350" indent="-285750"/>
            <a:r>
              <a:rPr lang="en-IN" sz="1800" dirty="0">
                <a:effectLst/>
                <a:latin typeface="Calibri" panose="020F0502020204030204" pitchFamily="34" charset="0"/>
                <a:ea typeface="SimSun" panose="02010600030101010101" pitchFamily="2" charset="-122"/>
                <a:cs typeface="SimSun" panose="02010600030101010101" pitchFamily="2" charset="-122"/>
              </a:rPr>
              <a:t>We are also going to add some intelligence keeping some appliances under observation and collecting data through which we can make electrical appliances to go in the low power mode at appropriate situation.</a:t>
            </a:r>
          </a:p>
          <a:p>
            <a:pPr indent="0">
              <a:buNone/>
            </a:pPr>
            <a:endParaRPr lang="en-IN" sz="1800" dirty="0">
              <a:effectLst/>
              <a:latin typeface="Calibri" panose="020F0502020204030204" pitchFamily="34" charset="0"/>
              <a:ea typeface="SimSun" panose="02010600030101010101" pitchFamily="2" charset="-122"/>
              <a:cs typeface="SimSun" panose="02010600030101010101" pitchFamily="2" charset="-122"/>
            </a:endParaRPr>
          </a:p>
          <a:p>
            <a:pPr indent="0">
              <a:buNone/>
            </a:pPr>
            <a:endParaRPr lang="en-IN" sz="1800" dirty="0">
              <a:effectLst/>
              <a:latin typeface="Calibri" panose="020F0502020204030204" pitchFamily="34" charset="0"/>
              <a:ea typeface="SimSun" panose="02010600030101010101" pitchFamily="2" charset="-122"/>
              <a:cs typeface="SimSun" panose="02010600030101010101" pitchFamily="2" charset="-122"/>
            </a:endParaRPr>
          </a:p>
        </p:txBody>
      </p:sp>
    </p:spTree>
    <p:extLst>
      <p:ext uri="{BB962C8B-B14F-4D97-AF65-F5344CB8AC3E}">
        <p14:creationId xmlns:p14="http://schemas.microsoft.com/office/powerpoint/2010/main" val="14983346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455</TotalTime>
  <Words>640</Words>
  <Application>Microsoft Office PowerPoint</Application>
  <PresentationFormat>Widescreen</PresentationFormat>
  <Paragraphs>81</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Black</vt:lpstr>
      <vt:lpstr>Bookman Old Style</vt:lpstr>
      <vt:lpstr>Calibri</vt:lpstr>
      <vt:lpstr>Century Gothic</vt:lpstr>
      <vt:lpstr>Rockwell</vt:lpstr>
      <vt:lpstr>Damask</vt:lpstr>
      <vt:lpstr>DR S. &amp; S.S GHANDHY GOVERMENT ENGINEERING COLLEGE , SURAT</vt:lpstr>
      <vt:lpstr>CONTENTS OF THIS PRESENTATION</vt:lpstr>
      <vt:lpstr>WHAT ARE WE MAKING?</vt:lpstr>
      <vt:lpstr>WHAT ARE WE USING TO MAKE IT?</vt:lpstr>
      <vt:lpstr>Block diagram</vt:lpstr>
      <vt:lpstr>Circuit diagram  CONTAINING ONE LOAD</vt:lpstr>
      <vt:lpstr>WORKING</vt:lpstr>
      <vt:lpstr>PowerPoint Presentation</vt:lpstr>
      <vt:lpstr>PowerPoint Presentation</vt:lpstr>
      <vt:lpstr>PowerPoint Presentation</vt:lpstr>
      <vt:lpstr>PowerPoint Presentation</vt:lpstr>
      <vt:lpstr>Machine learning </vt:lpstr>
      <vt:lpstr>PowerPoint Presentation</vt:lpstr>
      <vt:lpstr>PowerPoint Presentation</vt:lpstr>
      <vt:lpstr>PowerPoint Presentation</vt:lpstr>
      <vt:lpstr>PowerPoint Presentation</vt:lpstr>
      <vt:lpstr>PowerPoint Presentation</vt:lpstr>
      <vt:lpstr>Aim and objectives of the project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S. &amp; S.S GHANDHY GOVERMENT ENGINEERING COLLEGE , SURAT</dc:title>
  <dc:creator>NILESH</dc:creator>
  <cp:lastModifiedBy>NILESH</cp:lastModifiedBy>
  <cp:revision>40</cp:revision>
  <dcterms:created xsi:type="dcterms:W3CDTF">2020-10-26T16:56:15Z</dcterms:created>
  <dcterms:modified xsi:type="dcterms:W3CDTF">2021-05-04T18:59:03Z</dcterms:modified>
</cp:coreProperties>
</file>